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dd374db-1f7b-838f-45b2-5c1b80f77aa3}">
          <p14:sldIdLst>
            <p14:sldId id="256"/>
            <p14:sldId id="257"/>
          </p14:sldIdLst>
        </p14:section>
        <p14:section name="Data" id="{3d058687-af95-d1b4-c8c4-76589e1ca826}">
          <p14:sldIdLst>
            <p14:sldId id="258"/>
            <p14:sldId id="259"/>
          </p14:sldIdLst>
        </p14:section>
        <p14:section name="Model" id="{6d619351-a292-802a-581b-1e55f5d338cd}">
          <p14:sldIdLst>
            <p14:sldId id="260"/>
            <p14:sldId id="261"/>
          </p14:sldIdLst>
        </p14:section>
        <p14:section name="Test" id="{40e305dd-caf2-881d-8a2f-81e2285e75cb}">
          <p14:sldIdLst>
            <p14:sldId id="262"/>
            <p14:sldId id="263"/>
          </p14:sldIdLst>
        </p14:section>
        <p14:section name="Next steps" id="{f6643641-f144-d8b4-8710-bc0c709565ab}">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Spectrum</c:v>
                </c:pt>
              </c:strCache>
            </c:strRef>
          </c:tx>
          <c:spPr>
            <a:solidFill>
              <a:srgbClr val="FB8B24"/>
            </a:solidFill>
            <a:ln w="31750" cap="flat">
              <a:solidFill>
                <a:srgbClr val="FB8B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B8B24"/>
              </a:solidFill>
              <a:ln w="9525" cap="flat">
                <a:solidFill>
                  <a:srgbClr val="FB8B24"/>
                </a:solidFill>
                <a:prstDash val="solid"/>
                <a:round/>
              </a:ln>
              <a:effectLst/>
            </c:spPr>
          </c:marker>
          <c:cat>
            <c:multiLvlStrRef>
              <c:f>Sheet1!$A$2:$A$121</c:f>
              <c:multiLvlStrCache>
                <c:ptCount val="12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lvl>
              </c:multiLvlStrCache>
            </c:multiLvlStrRef>
          </c:cat>
          <c:val>
            <c:numRef>
              <c:f>Sheet1!$B$2:$B$121</c:f>
              <c:numCache>
                <c:formatCode>General</c:formatCode>
                <c:ptCount val="120"/>
                <c:pt idx="0">
                  <c:v>0.04</c:v>
                </c:pt>
                <c:pt idx="1">
                  <c:v>0.04</c:v>
                </c:pt>
                <c:pt idx="2">
                  <c:v>0.04</c:v>
                </c:pt>
                <c:pt idx="3">
                  <c:v>0.04</c:v>
                </c:pt>
                <c:pt idx="4">
                  <c:v>0.04</c:v>
                </c:pt>
                <c:pt idx="5">
                  <c:v>0.04</c:v>
                </c:pt>
                <c:pt idx="6">
                  <c:v>0.04</c:v>
                </c:pt>
                <c:pt idx="7">
                  <c:v>0.04</c:v>
                </c:pt>
                <c:pt idx="8">
                  <c:v>0.04</c:v>
                </c:pt>
                <c:pt idx="9">
                  <c:v>0.0401</c:v>
                </c:pt>
                <c:pt idx="10">
                  <c:v>0.0405</c:v>
                </c:pt>
                <c:pt idx="11">
                  <c:v>0.0422</c:v>
                </c:pt>
                <c:pt idx="12">
                  <c:v>0.0485</c:v>
                </c:pt>
                <c:pt idx="13">
                  <c:v>0.0665</c:v>
                </c:pt>
                <c:pt idx="14">
                  <c:v>0.107</c:v>
                </c:pt>
                <c:pt idx="15">
                  <c:v>0.1781</c:v>
                </c:pt>
                <c:pt idx="16">
                  <c:v>0.2715</c:v>
                </c:pt>
                <c:pt idx="17">
                  <c:v>0.3556</c:v>
                </c:pt>
                <c:pt idx="18">
                  <c:v>0.39</c:v>
                </c:pt>
                <c:pt idx="19">
                  <c:v>0.3556</c:v>
                </c:pt>
                <c:pt idx="20">
                  <c:v>0.2715</c:v>
                </c:pt>
                <c:pt idx="21">
                  <c:v>0.1781</c:v>
                </c:pt>
                <c:pt idx="22">
                  <c:v>0.107</c:v>
                </c:pt>
                <c:pt idx="23">
                  <c:v>0.0665</c:v>
                </c:pt>
                <c:pt idx="24">
                  <c:v>0.0485</c:v>
                </c:pt>
                <c:pt idx="25">
                  <c:v>0.0422</c:v>
                </c:pt>
                <c:pt idx="26">
                  <c:v>0.0405</c:v>
                </c:pt>
                <c:pt idx="27">
                  <c:v>0.0401</c:v>
                </c:pt>
                <c:pt idx="28">
                  <c:v>0.0409</c:v>
                </c:pt>
                <c:pt idx="29">
                  <c:v>0.0472</c:v>
                </c:pt>
                <c:pt idx="30">
                  <c:v>0.0817</c:v>
                </c:pt>
                <c:pt idx="31">
                  <c:v>0.2038</c:v>
                </c:pt>
                <c:pt idx="32">
                  <c:v>0.4749</c:v>
                </c:pt>
                <c:pt idx="33">
                  <c:v>0.8214</c:v>
                </c:pt>
                <c:pt idx="34">
                  <c:v>0.99</c:v>
                </c:pt>
                <c:pt idx="35">
                  <c:v>0.8214</c:v>
                </c:pt>
                <c:pt idx="36">
                  <c:v>0.4749</c:v>
                </c:pt>
                <c:pt idx="37">
                  <c:v>0.2038</c:v>
                </c:pt>
                <c:pt idx="38">
                  <c:v>0.0817</c:v>
                </c:pt>
                <c:pt idx="39">
                  <c:v>0.0472</c:v>
                </c:pt>
                <c:pt idx="40">
                  <c:v>0.0409</c:v>
                </c:pt>
                <c:pt idx="41">
                  <c:v>0.0401</c:v>
                </c:pt>
                <c:pt idx="42">
                  <c:v>0.0403</c:v>
                </c:pt>
                <c:pt idx="43">
                  <c:v>0.0413</c:v>
                </c:pt>
                <c:pt idx="44">
                  <c:v>0.0444</c:v>
                </c:pt>
                <c:pt idx="45">
                  <c:v>0.0533</c:v>
                </c:pt>
                <c:pt idx="46">
                  <c:v>0.0749</c:v>
                </c:pt>
                <c:pt idx="47">
                  <c:v>0.1187</c:v>
                </c:pt>
                <c:pt idx="48">
                  <c:v>0.1931</c:v>
                </c:pt>
                <c:pt idx="49">
                  <c:v>0.297</c:v>
                </c:pt>
                <c:pt idx="50">
                  <c:v>0.4119</c:v>
                </c:pt>
                <c:pt idx="51">
                  <c:v>0.5044</c:v>
                </c:pt>
                <c:pt idx="52">
                  <c:v>0.54</c:v>
                </c:pt>
                <c:pt idx="53">
                  <c:v>0.5044</c:v>
                </c:pt>
                <c:pt idx="54">
                  <c:v>0.4119</c:v>
                </c:pt>
                <c:pt idx="55">
                  <c:v>0.297</c:v>
                </c:pt>
                <c:pt idx="56">
                  <c:v>0.1931</c:v>
                </c:pt>
                <c:pt idx="57">
                  <c:v>0.1187</c:v>
                </c:pt>
                <c:pt idx="58">
                  <c:v>0.0749</c:v>
                </c:pt>
                <c:pt idx="59">
                  <c:v>0.0533</c:v>
                </c:pt>
                <c:pt idx="60">
                  <c:v>0.0444</c:v>
                </c:pt>
                <c:pt idx="61">
                  <c:v>0.0413</c:v>
                </c:pt>
                <c:pt idx="62">
                  <c:v>0.0403</c:v>
                </c:pt>
                <c:pt idx="63">
                  <c:v>0.0405</c:v>
                </c:pt>
                <c:pt idx="64">
                  <c:v>0.0429</c:v>
                </c:pt>
                <c:pt idx="65">
                  <c:v>0.0558</c:v>
                </c:pt>
                <c:pt idx="66">
                  <c:v>0.1035</c:v>
                </c:pt>
                <c:pt idx="67">
                  <c:v>0.227</c:v>
                </c:pt>
                <c:pt idx="68">
                  <c:v>0.4446</c:v>
                </c:pt>
                <c:pt idx="69">
                  <c:v>0.6827</c:v>
                </c:pt>
                <c:pt idx="70">
                  <c:v>0.79</c:v>
                </c:pt>
                <c:pt idx="71">
                  <c:v>0.6827</c:v>
                </c:pt>
                <c:pt idx="72">
                  <c:v>0.4446</c:v>
                </c:pt>
                <c:pt idx="73">
                  <c:v>0.227</c:v>
                </c:pt>
                <c:pt idx="74">
                  <c:v>0.1035</c:v>
                </c:pt>
                <c:pt idx="75">
                  <c:v>0.0559</c:v>
                </c:pt>
                <c:pt idx="76">
                  <c:v>0.043</c:v>
                </c:pt>
                <c:pt idx="77">
                  <c:v>0.0408</c:v>
                </c:pt>
                <c:pt idx="78">
                  <c:v>0.0412</c:v>
                </c:pt>
                <c:pt idx="79">
                  <c:v>0.0433</c:v>
                </c:pt>
                <c:pt idx="80">
                  <c:v>0.0486</c:v>
                </c:pt>
                <c:pt idx="81">
                  <c:v>0.0597</c:v>
                </c:pt>
                <c:pt idx="82">
                  <c:v>0.0806</c:v>
                </c:pt>
                <c:pt idx="83">
                  <c:v>0.1148</c:v>
                </c:pt>
                <c:pt idx="84">
                  <c:v>0.1633</c:v>
                </c:pt>
                <c:pt idx="85">
                  <c:v>0.222</c:v>
                </c:pt>
                <c:pt idx="86">
                  <c:v>0.2802</c:v>
                </c:pt>
                <c:pt idx="87">
                  <c:v>0.3238</c:v>
                </c:pt>
                <c:pt idx="88">
                  <c:v>0.34</c:v>
                </c:pt>
                <c:pt idx="89">
                  <c:v>0.3238</c:v>
                </c:pt>
                <c:pt idx="90">
                  <c:v>0.2802</c:v>
                </c:pt>
                <c:pt idx="91">
                  <c:v>0.222</c:v>
                </c:pt>
                <c:pt idx="92">
                  <c:v>0.1633</c:v>
                </c:pt>
                <c:pt idx="93">
                  <c:v>0.1148</c:v>
                </c:pt>
                <c:pt idx="94">
                  <c:v>0.0806</c:v>
                </c:pt>
                <c:pt idx="95">
                  <c:v>0.0597</c:v>
                </c:pt>
                <c:pt idx="96">
                  <c:v>0.0488</c:v>
                </c:pt>
                <c:pt idx="97">
                  <c:v>0.0446</c:v>
                </c:pt>
                <c:pt idx="98">
                  <c:v>0.0478</c:v>
                </c:pt>
                <c:pt idx="99">
                  <c:v>0.0667</c:v>
                </c:pt>
                <c:pt idx="100">
                  <c:v>0.1213</c:v>
                </c:pt>
                <c:pt idx="101">
                  <c:v>0.2348</c:v>
                </c:pt>
                <c:pt idx="102">
                  <c:v>0.4039</c:v>
                </c:pt>
                <c:pt idx="103">
                  <c:v>0.5695</c:v>
                </c:pt>
                <c:pt idx="104">
                  <c:v>0.64</c:v>
                </c:pt>
                <c:pt idx="105">
                  <c:v>0.5695</c:v>
                </c:pt>
                <c:pt idx="106">
                  <c:v>0.4039</c:v>
                </c:pt>
                <c:pt idx="107">
                  <c:v>0.2348</c:v>
                </c:pt>
                <c:pt idx="108">
                  <c:v>0.1212</c:v>
                </c:pt>
                <c:pt idx="109">
                  <c:v>0.0664</c:v>
                </c:pt>
                <c:pt idx="110">
                  <c:v>0.0467</c:v>
                </c:pt>
                <c:pt idx="111">
                  <c:v>0.0413</c:v>
                </c:pt>
                <c:pt idx="112">
                  <c:v>0.0402</c:v>
                </c:pt>
                <c:pt idx="113">
                  <c:v>0.04</c:v>
                </c:pt>
                <c:pt idx="114">
                  <c:v>0.04</c:v>
                </c:pt>
                <c:pt idx="115">
                  <c:v>0.04</c:v>
                </c:pt>
                <c:pt idx="116">
                  <c:v>0.04</c:v>
                </c:pt>
                <c:pt idx="117">
                  <c:v>0.04</c:v>
                </c:pt>
                <c:pt idx="118">
                  <c:v>0.04</c:v>
                </c:pt>
                <c:pt idx="119">
                  <c:v>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Chemicals</c:v>
                </c:pt>
              </c:strCache>
            </c:strRef>
          </c:tx>
          <c:spPr>
            <a:solidFill>
              <a:srgbClr val="0F4C5C"/>
            </a:solidFill>
            <a:effectLst/>
          </c:spPr>
          <c:invertIfNegative val="0"/>
          <c:dLbls>
            <c:numFmt formatCode="#,##0"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Sheet1!$A$2:$A$6</c:f>
              <c:multiLvlStrCache>
                <c:ptCount val="5"/>
                <c:lvl>
                  <c:pt idx="0">
                    <c:v>Biomolecules</c:v>
                  </c:pt>
                  <c:pt idx="1">
                    <c:v>Inorganic crystals</c:v>
                  </c:pt>
                  <c:pt idx="2">
                    <c:v>Pharma excipients</c:v>
                  </c:pt>
                  <c:pt idx="3">
                    <c:v>Solvents</c:v>
                  </c:pt>
                  <c:pt idx="4">
                    <c:v>Drug adulterants</c:v>
                  </c:pt>
                </c:lvl>
              </c:multiLvlStrCache>
            </c:multiLvlStrRef>
          </c:cat>
          <c:val>
            <c:numRef>
              <c:f>Sheet1!$B$2:$B$6</c:f>
              <c:numCache>
                <c:formatCode>General</c:formatCode>
                <c:ptCount val="5"/>
                <c:pt idx="0">
                  <c:v>141</c:v>
                </c:pt>
                <c:pt idx="1">
                  <c:v>127</c:v>
                </c:pt>
                <c:pt idx="2">
                  <c:v>56</c:v>
                </c:pt>
                <c:pt idx="3">
                  <c:v>31</c:v>
                </c:pt>
                <c:pt idx="4">
                  <c:v>11</c:v>
                </c:pt>
              </c:numCache>
            </c:numRef>
          </c:val>
        </c:ser>
        <c:dLbls>
          <c:numFmt formatCode="#,##0"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F4B5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F4B5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Chemicals</c:v>
                </c:pt>
              </c:strCache>
            </c:strRef>
          </c:tx>
          <c:spPr>
            <a:solidFill>
              <a:srgbClr val="0F4C5C"/>
            </a:solidFill>
            <a:effectLst/>
          </c:spPr>
          <c:invertIfNegative val="0"/>
          <c:dLbls>
            <c:numFmt formatCode="#,##0"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 to 5</c:v>
                  </c:pt>
                  <c:pt idx="3">
                    <c:v>6 to 50</c:v>
                  </c:pt>
                  <c:pt idx="4">
                    <c:v>Over 50</c:v>
                  </c:pt>
                </c:lvl>
              </c:multiLvlStrCache>
            </c:multiLvlStrRef>
          </c:cat>
          <c:val>
            <c:numRef>
              <c:f>Sheet1!$B$2:$B$6</c:f>
              <c:numCache>
                <c:formatCode>General</c:formatCode>
                <c:ptCount val="5"/>
                <c:pt idx="0">
                  <c:v>170</c:v>
                </c:pt>
                <c:pt idx="1">
                  <c:v>84</c:v>
                </c:pt>
                <c:pt idx="2">
                  <c:v>69</c:v>
                </c:pt>
                <c:pt idx="3">
                  <c:v>6</c:v>
                </c:pt>
                <c:pt idx="4">
                  <c:v>31</c:v>
                </c:pt>
              </c:numCache>
            </c:numRef>
          </c:val>
        </c:ser>
        <c:dLbls>
          <c:numFmt formatCode="#,##0"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3F4B53"/>
                    </a:solidFill>
                    <a:latin typeface="+mn-lt"/>
                  </a:defRPr>
                </a:pPr>
                <a:r>
                  <a:rPr sz="1200" b="0" i="0" u="none" strike="noStrike">
                    <a:solidFill>
                      <a:srgbClr val="3F4B53"/>
                    </a:solidFill>
                    <a:latin typeface="+mn-lt"/>
                  </a:rPr>
                  <a:t>Real spectra per chemical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F4B5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4B5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FT-Raman reference, 785 nm test</c:v>
                </c:pt>
              </c:strCache>
            </c:strRef>
          </c:tx>
          <c:spPr>
            <a:solidFill>
              <a:srgbClr val="0F4C5C"/>
            </a:solidFill>
            <a:effectLst/>
          </c:spPr>
          <c:invertIfNegative val="0"/>
          <c:dLbls>
            <c:numFmt formatCode="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No background removal</c:v>
                  </c:pt>
                  <c:pt idx="1">
                    <c:v>Background removed</c:v>
                  </c:pt>
                  <c:pt idx="2">
                    <c:v>Removed + square root</c:v>
                  </c:pt>
                </c:lvl>
              </c:multiLvlStrCache>
            </c:multiLvlStrRef>
          </c:cat>
          <c:val>
            <c:numRef>
              <c:f>Sheet1!$B$2:$B$4</c:f>
              <c:numCache>
                <c:formatCode>General</c:formatCode>
                <c:ptCount val="3"/>
                <c:pt idx="0">
                  <c:v>58.7</c:v>
                </c:pt>
                <c:pt idx="1">
                  <c:v>82.7</c:v>
                </c:pt>
                <c:pt idx="2">
                  <c:v>89.3</c:v>
                </c:pt>
              </c:numCache>
            </c:numRef>
          </c:val>
        </c:ser>
        <c:ser>
          <c:idx val="1"/>
          <c:order val="1"/>
          <c:tx>
            <c:strRef>
              <c:f>Sheet1!$C$1</c:f>
              <c:strCache>
                <c:ptCount val="1"/>
                <c:pt idx="0">
                  <c:v>785 nm reference, FT-Raman test</c:v>
                </c:pt>
              </c:strCache>
            </c:strRef>
          </c:tx>
          <c:spPr>
            <a:solidFill>
              <a:srgbClr val="FB8B24"/>
            </a:solidFill>
            <a:effectLst/>
          </c:spPr>
          <c:invertIfNegative val="0"/>
          <c:dLbls>
            <c:numFmt formatCode="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No background removal</c:v>
                  </c:pt>
                  <c:pt idx="1">
                    <c:v>Background removed</c:v>
                  </c:pt>
                  <c:pt idx="2">
                    <c:v>Removed + square root</c:v>
                  </c:pt>
                </c:lvl>
              </c:multiLvlStrCache>
            </c:multiLvlStrRef>
          </c:cat>
          <c:val>
            <c:numRef>
              <c:f>Sheet1!$C$2:$C$4</c:f>
              <c:numCache>
                <c:formatCode>General</c:formatCode>
                <c:ptCount val="3"/>
                <c:pt idx="0">
                  <c:v>41.3</c:v>
                </c:pt>
                <c:pt idx="1">
                  <c:v>78.7</c:v>
                </c:pt>
                <c:pt idx="2">
                  <c:v>80</c:v>
                </c:pt>
              </c:numCache>
            </c:numRef>
          </c:val>
        </c:ser>
        <c:dLbls>
          <c:numFmt formatCode="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F4B5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5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4B53"/>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3F4B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Top-1 accuracy</c:v>
                </c:pt>
              </c:strCache>
            </c:strRef>
          </c:tx>
          <c:spPr>
            <a:solidFill>
              <a:srgbClr val="0F4C5C"/>
            </a:solidFill>
            <a:effectLst/>
          </c:spPr>
          <c:invertIfNegative val="0"/>
          <c:dLbls>
            <c:numFmt formatCode="0.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Held-back public spectra (862)</c:v>
                  </c:pt>
                  <c:pt idx="1">
                    <c:v>Other instrument: FT-Raman to 785 nm (75)</c:v>
                  </c:pt>
                  <c:pt idx="2">
                    <c:v>Other instrument: 785 nm to FT-Raman (75)</c:v>
                  </c:pt>
                </c:lvl>
              </c:multiLvlStrCache>
            </c:multiLvlStrRef>
          </c:cat>
          <c:val>
            <c:numRef>
              <c:f>Sheet1!$B$2:$B$4</c:f>
              <c:numCache>
                <c:formatCode>General</c:formatCode>
                <c:ptCount val="3"/>
                <c:pt idx="0">
                  <c:v>93.4</c:v>
                </c:pt>
                <c:pt idx="1">
                  <c:v>88</c:v>
                </c:pt>
                <c:pt idx="2">
                  <c:v>85.3</c:v>
                </c:pt>
              </c:numCache>
            </c:numRef>
          </c:val>
        </c:ser>
        <c:dLbls>
          <c:numFmt formatCode="0.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F4B53"/>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F4B5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Correct</c:v>
                </c:pt>
              </c:strCache>
            </c:strRef>
          </c:tx>
          <c:spPr>
            <a:solidFill>
              <a:srgbClr val="0F4C5C"/>
            </a:solidFill>
            <a:effectLst/>
          </c:spPr>
          <c:invertIfNegative val="0"/>
          <c:dLbls>
            <c:numFmt formatCode="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cat>
            <c:multiLvlStrRef>
              <c:f>Sheet1!$A$2:$A$7</c:f>
              <c:multiLvlStrCache>
                <c:ptCount val="6"/>
                <c:lvl>
                  <c:pt idx="0">
                    <c:v>Sodium Nitrate (20)</c:v>
                  </c:pt>
                  <c:pt idx="1">
                    <c:v>Acetone (14)</c:v>
                  </c:pt>
                  <c:pt idx="2">
                    <c:v>Potassium Nitrate (33)</c:v>
                  </c:pt>
                  <c:pt idx="3">
                    <c:v>Ethyl Alcohol (2)</c:v>
                  </c:pt>
                  <c:pt idx="4">
                    <c:v>Potassium Carbonate (1)</c:v>
                  </c:pt>
                  <c:pt idx="5">
                    <c:v>Isopropyl Alcohol (1)</c:v>
                  </c:pt>
                </c:lvl>
              </c:multiLvlStrCache>
            </c:multiLvlStrRef>
          </c:cat>
          <c:val>
            <c:numRef>
              <c:f>Sheet1!$B$2:$B$7</c:f>
              <c:numCache>
                <c:formatCode>General</c:formatCode>
                <c:ptCount val="6"/>
                <c:pt idx="0">
                  <c:v>100</c:v>
                </c:pt>
                <c:pt idx="1">
                  <c:v>100</c:v>
                </c:pt>
                <c:pt idx="2">
                  <c:v>73</c:v>
                </c:pt>
                <c:pt idx="3">
                  <c:v>0</c:v>
                </c:pt>
                <c:pt idx="4">
                  <c:v>0</c:v>
                </c:pt>
                <c:pt idx="5">
                  <c:v>0</c:v>
                </c:pt>
              </c:numCache>
            </c:numRef>
          </c:val>
        </c:ser>
        <c:dLbls>
          <c:numFmt formatCode="0&quot;%&quot;" sourceLinked="0"/>
          <c:txPr>
            <a:bodyPr/>
            <a:lstStyle/>
            <a:p>
              <a:pPr>
                <a:defRPr b="0" i="0" strike="noStrike" sz="1200" u="none">
                  <a:solidFill>
                    <a:srgbClr val="14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F4B53"/>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F4B5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summarises the full piece of work: collecting public Raman data, analysing it, training a model to name chemicals, and testing that model on spectra from our own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works well on public data and transfers to our instrument for the chemicals it knows. The gap is coverage: only six of our twenty-six chemicals have any public reference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 GB of public Raman data was downloaded. Five sources with real chemical names were used. The RRUFF mineral database was downloaded but left out of training on request. Three chemicals appear in two sources, so the bars add up to slightly more than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31 solvents have more than 100 spectra each. For the 170 chemicals with a single spectrum, accuracy on real data could not be measured, only on generated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spectrum goes through the same five steps in training and in testing. Background removal roughly doubles accuracy on a different instrument in one direction. The 700 kept wavenumbers were chosen by ranking how well each separates the chemicals.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cross-instrument tests are the most relevant to us: the reference spectrum comes from one instrument and the test spectrum from another. The correct name was in the top five for 92 to 97 percent of spectra across the three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six of our chemicals exist in the training data, giving 71 test spectra from spec_log.csv. The model had never seen a spectrum from our instrument. Leaving out the three failing chemicals gives 58 of 67, or 87 percent, but that rise comes only from removing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reasons the model is not yet usable for our chemicals. The first is by far the largest. The model also uses only 450 to 1,800 cm-1, so information above that range is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the only route to covering the chemicals we measure. For narcotics, a commercial library would have to be licensed or reference standards measured, because no public data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4980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49040"/>
            <a:ext cx="7498080" cy="91440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Raman chemical identification</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1672"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498080" cy="1737360"/>
          </a:xfrm>
          <a:prstGeom prst="rect">
            <a:avLst/>
          </a:prstGeom>
          <a:noFill/>
          <a:ln/>
        </p:spPr>
        <p:txBody>
          <a:bodyPr wrap="square" lIns="0" tIns="0" rIns="0" bIns="0" rtlCol="0" anchor="t"/>
          <a:lstStyle/>
          <a:p>
            <a:pPr algn="l" indent="0" marL="0">
              <a:buNone/>
            </a:pPr>
            <a:r>
              <a:rPr lang="en-US" sz="4400" b="1" dirty="0">
                <a:solidFill>
                  <a:schemeClr val="bg1"/>
                </a:solidFill>
              </a:rPr>
              <a:t>Naming chemicals from Raman spectra</a:t>
            </a:r>
            <a:endParaRPr lang="en-US" sz="4400" dirty="0"/>
          </a:p>
        </p:txBody>
      </p:sp>
      <p:sp>
        <p:nvSpPr>
          <p:cNvPr id="3" name="Text 0"/>
          <p:cNvSpPr/>
          <p:nvPr>
            <p:ph idx="101" type="body" hasCustomPrompt="1"/>
          </p:nvPr>
        </p:nvSpPr>
        <p:spPr>
          <a:xfrm>
            <a:off x="548640" y="3749040"/>
            <a:ext cx="7498080" cy="914400"/>
          </a:xfrm>
          <a:prstGeom prst="rect">
            <a:avLst/>
          </a:prstGeom>
          <a:noFill/>
          <a:ln/>
        </p:spPr>
        <p:txBody>
          <a:bodyPr wrap="square" lIns="0" tIns="0" rIns="0" bIns="0" rtlCol="0" anchor="t"/>
          <a:lstStyle/>
          <a:p>
            <a:pPr algn="l" indent="0" marL="0">
              <a:buNone/>
            </a:pPr>
            <a:r>
              <a:rPr lang="en-US" sz="2000" dirty="0">
                <a:solidFill>
                  <a:schemeClr val="accent4"/>
                </a:solidFill>
              </a:rPr>
              <a:t>A model trained on public data, tested on our instrument  |  October 2026</a:t>
            </a:r>
            <a:endParaRPr lang="en-US" sz="2000" dirty="0"/>
          </a:p>
        </p:txBody>
      </p:sp>
      <p:graphicFrame>
        <p:nvGraphicFramePr>
          <p:cNvPr id="4" name="Spectrum motif" descr="Decorative illustration of a Raman spectrum with six peaks"/>
          <p:cNvGraphicFramePr/>
          <p:nvPr/>
        </p:nvGraphicFramePr>
        <p:xfrm>
          <a:off x="7863840" y="1463040"/>
          <a:ext cx="3931920" cy="3291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The result in four numbers</a:t>
            </a:r>
            <a:endParaRPr lang="en-US" sz="3600" dirty="0"/>
          </a:p>
        </p:txBody>
      </p:sp>
      <p:sp>
        <p:nvSpPr>
          <p:cNvPr id="3" name="Stat card 1"/>
          <p:cNvSpPr/>
          <p:nvPr/>
        </p:nvSpPr>
        <p:spPr>
          <a:xfrm>
            <a:off x="548640" y="1600200"/>
            <a:ext cx="2560320" cy="2651760"/>
          </a:xfrm>
          <a:prstGeom prst="roundRect">
            <a:avLst>
              <a:gd name="adj" fmla="val 2857"/>
            </a:avLst>
          </a:prstGeom>
          <a:solidFill>
            <a:schemeClr val="bg2"/>
          </a:solidFill>
          <a:ln/>
        </p:spPr>
      </p:sp>
      <p:sp>
        <p:nvSpPr>
          <p:cNvPr id="4" name="Text 2"/>
          <p:cNvSpPr txBox="1"/>
          <p:nvPr/>
        </p:nvSpPr>
        <p:spPr>
          <a:xfrm>
            <a:off x="777240" y="1874520"/>
            <a:ext cx="210312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360</a:t>
            </a:r>
            <a:endParaRPr lang="en-US" sz="4000" dirty="0"/>
          </a:p>
        </p:txBody>
      </p:sp>
      <p:sp>
        <p:nvSpPr>
          <p:cNvPr id="5" name="Text 3"/>
          <p:cNvSpPr txBox="1"/>
          <p:nvPr/>
        </p:nvSpPr>
        <p:spPr>
          <a:xfrm>
            <a:off x="777240" y="3017520"/>
            <a:ext cx="2103120" cy="1005840"/>
          </a:xfrm>
          <a:prstGeom prst="rect">
            <a:avLst/>
          </a:prstGeom>
          <a:noFill/>
          <a:ln/>
        </p:spPr>
        <p:txBody>
          <a:bodyPr wrap="square" lIns="0" tIns="0" rIns="0" bIns="0" rtlCol="0" anchor="t"/>
          <a:lstStyle/>
          <a:p>
            <a:pPr indent="0" marL="0">
              <a:buNone/>
            </a:pPr>
            <a:r>
              <a:rPr lang="en-US" sz="1600" dirty="0">
                <a:solidFill>
                  <a:schemeClr val="tx1"/>
                </a:solidFill>
              </a:rPr>
              <a:t>chemicals the model can name</a:t>
            </a:r>
            <a:endParaRPr lang="en-US" sz="1600" dirty="0"/>
          </a:p>
        </p:txBody>
      </p:sp>
      <p:sp>
        <p:nvSpPr>
          <p:cNvPr id="6" name="Stat card 2"/>
          <p:cNvSpPr/>
          <p:nvPr/>
        </p:nvSpPr>
        <p:spPr>
          <a:xfrm>
            <a:off x="3392424" y="1600200"/>
            <a:ext cx="2560320" cy="2651760"/>
          </a:xfrm>
          <a:prstGeom prst="roundRect">
            <a:avLst>
              <a:gd name="adj" fmla="val 2857"/>
            </a:avLst>
          </a:prstGeom>
          <a:solidFill>
            <a:schemeClr val="bg2"/>
          </a:solidFill>
          <a:ln/>
        </p:spPr>
      </p:sp>
      <p:sp>
        <p:nvSpPr>
          <p:cNvPr id="7" name="Text 5"/>
          <p:cNvSpPr txBox="1"/>
          <p:nvPr/>
        </p:nvSpPr>
        <p:spPr>
          <a:xfrm>
            <a:off x="3621024" y="1874520"/>
            <a:ext cx="210312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93%</a:t>
            </a:r>
            <a:endParaRPr lang="en-US" sz="4000" dirty="0"/>
          </a:p>
        </p:txBody>
      </p:sp>
      <p:sp>
        <p:nvSpPr>
          <p:cNvPr id="8" name="Text 6"/>
          <p:cNvSpPr txBox="1"/>
          <p:nvPr/>
        </p:nvSpPr>
        <p:spPr>
          <a:xfrm>
            <a:off x="3621024" y="3017520"/>
            <a:ext cx="2103120" cy="1005840"/>
          </a:xfrm>
          <a:prstGeom prst="rect">
            <a:avLst/>
          </a:prstGeom>
          <a:noFill/>
          <a:ln/>
        </p:spPr>
        <p:txBody>
          <a:bodyPr wrap="square" lIns="0" tIns="0" rIns="0" bIns="0" rtlCol="0" anchor="t"/>
          <a:lstStyle/>
          <a:p>
            <a:pPr indent="0" marL="0">
              <a:buNone/>
            </a:pPr>
            <a:r>
              <a:rPr lang="en-US" sz="1600" dirty="0">
                <a:solidFill>
                  <a:schemeClr val="tx1"/>
                </a:solidFill>
              </a:rPr>
              <a:t>correct on public spectra it had not seen</a:t>
            </a:r>
            <a:endParaRPr lang="en-US" sz="1600" dirty="0"/>
          </a:p>
        </p:txBody>
      </p:sp>
      <p:sp>
        <p:nvSpPr>
          <p:cNvPr id="9" name="Stat card 3"/>
          <p:cNvSpPr/>
          <p:nvPr/>
        </p:nvSpPr>
        <p:spPr>
          <a:xfrm>
            <a:off x="6236208" y="1600200"/>
            <a:ext cx="2560320" cy="2651760"/>
          </a:xfrm>
          <a:prstGeom prst="roundRect">
            <a:avLst>
              <a:gd name="adj" fmla="val 2857"/>
            </a:avLst>
          </a:prstGeom>
          <a:solidFill>
            <a:schemeClr val="bg2"/>
          </a:solidFill>
          <a:ln/>
        </p:spPr>
      </p:sp>
      <p:sp>
        <p:nvSpPr>
          <p:cNvPr id="10" name="Text 8"/>
          <p:cNvSpPr txBox="1"/>
          <p:nvPr/>
        </p:nvSpPr>
        <p:spPr>
          <a:xfrm>
            <a:off x="6464808" y="1874520"/>
            <a:ext cx="2103120" cy="10058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82%</a:t>
            </a:r>
            <a:endParaRPr lang="en-US" sz="4000" dirty="0"/>
          </a:p>
        </p:txBody>
      </p:sp>
      <p:sp>
        <p:nvSpPr>
          <p:cNvPr id="11" name="Text 9"/>
          <p:cNvSpPr txBox="1"/>
          <p:nvPr/>
        </p:nvSpPr>
        <p:spPr>
          <a:xfrm>
            <a:off x="6464808" y="3017520"/>
            <a:ext cx="2103120" cy="1005840"/>
          </a:xfrm>
          <a:prstGeom prst="rect">
            <a:avLst/>
          </a:prstGeom>
          <a:noFill/>
          <a:ln/>
        </p:spPr>
        <p:txBody>
          <a:bodyPr wrap="square" lIns="0" tIns="0" rIns="0" bIns="0" rtlCol="0" anchor="t"/>
          <a:lstStyle/>
          <a:p>
            <a:pPr indent="0" marL="0">
              <a:buNone/>
            </a:pPr>
            <a:r>
              <a:rPr lang="en-US" sz="1600" dirty="0">
                <a:solidFill>
                  <a:schemeClr val="tx1"/>
                </a:solidFill>
              </a:rPr>
              <a:t>correct on our instrument (58 of 71 spectra)</a:t>
            </a:r>
            <a:endParaRPr lang="en-US" sz="1600" dirty="0"/>
          </a:p>
        </p:txBody>
      </p:sp>
      <p:sp>
        <p:nvSpPr>
          <p:cNvPr id="12" name="Stat card 4"/>
          <p:cNvSpPr/>
          <p:nvPr/>
        </p:nvSpPr>
        <p:spPr>
          <a:xfrm>
            <a:off x="9079992" y="1600200"/>
            <a:ext cx="2560320" cy="2651760"/>
          </a:xfrm>
          <a:prstGeom prst="roundRect">
            <a:avLst>
              <a:gd name="adj" fmla="val 2857"/>
            </a:avLst>
          </a:prstGeom>
          <a:solidFill>
            <a:schemeClr val="bg2"/>
          </a:solidFill>
          <a:ln/>
        </p:spPr>
      </p:sp>
      <p:sp>
        <p:nvSpPr>
          <p:cNvPr id="13" name="Text 11"/>
          <p:cNvSpPr txBox="1"/>
          <p:nvPr/>
        </p:nvSpPr>
        <p:spPr>
          <a:xfrm>
            <a:off x="9308592" y="1874520"/>
            <a:ext cx="2103120" cy="10058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 of 26</a:t>
            </a:r>
            <a:endParaRPr lang="en-US" sz="4000" dirty="0"/>
          </a:p>
        </p:txBody>
      </p:sp>
      <p:sp>
        <p:nvSpPr>
          <p:cNvPr id="14" name="Text 12"/>
          <p:cNvSpPr txBox="1"/>
          <p:nvPr/>
        </p:nvSpPr>
        <p:spPr>
          <a:xfrm>
            <a:off x="9308592" y="3017520"/>
            <a:ext cx="2103120" cy="1005840"/>
          </a:xfrm>
          <a:prstGeom prst="rect">
            <a:avLst/>
          </a:prstGeom>
          <a:noFill/>
          <a:ln/>
        </p:spPr>
        <p:txBody>
          <a:bodyPr wrap="square" lIns="0" tIns="0" rIns="0" bIns="0" rtlCol="0" anchor="t"/>
          <a:lstStyle/>
          <a:p>
            <a:pPr indent="0" marL="0">
              <a:buNone/>
            </a:pPr>
            <a:r>
              <a:rPr lang="en-US" sz="1600" dirty="0">
                <a:solidFill>
                  <a:schemeClr val="tx1"/>
                </a:solidFill>
              </a:rPr>
              <a:t>of our chemicals exist in public data</a:t>
            </a:r>
            <a:endParaRPr lang="en-US" sz="1600" dirty="0"/>
          </a:p>
        </p:txBody>
      </p:sp>
      <p:sp>
        <p:nvSpPr>
          <p:cNvPr id="15" name="Takeaway"/>
          <p:cNvSpPr/>
          <p:nvPr/>
        </p:nvSpPr>
        <p:spPr>
          <a:xfrm>
            <a:off x="548640" y="4617720"/>
            <a:ext cx="11091672" cy="1234440"/>
          </a:xfrm>
          <a:prstGeom prst="roundRect">
            <a:avLst>
              <a:gd name="adj" fmla="val 5926"/>
            </a:avLst>
          </a:prstGeom>
          <a:solidFill>
            <a:schemeClr val="accent1"/>
          </a:solidFill>
          <a:ln/>
        </p:spPr>
      </p:sp>
      <p:sp>
        <p:nvSpPr>
          <p:cNvPr id="16" name="Text 14"/>
          <p:cNvSpPr txBox="1"/>
          <p:nvPr/>
        </p:nvSpPr>
        <p:spPr>
          <a:xfrm>
            <a:off x="868680" y="4617720"/>
            <a:ext cx="10451592" cy="1234440"/>
          </a:xfrm>
          <a:prstGeom prst="rect">
            <a:avLst/>
          </a:prstGeom>
          <a:noFill/>
          <a:ln/>
        </p:spPr>
        <p:txBody>
          <a:bodyPr wrap="square" lIns="0" tIns="0" rIns="0" bIns="0" rtlCol="0" anchor="ctr"/>
          <a:lstStyle/>
          <a:p>
            <a:pPr indent="0" marL="0">
              <a:buNone/>
            </a:pPr>
            <a:r>
              <a:rPr lang="en-US" sz="1800" dirty="0">
                <a:solidFill>
                  <a:schemeClr val="bg1"/>
                </a:solidFill>
              </a:rPr>
              <a:t>No public Raman data exists for explosives or narcotics. To cover the chemicals we actually measure, our own spectra have to become the reference library.</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Public data covers 360 chemicals</a:t>
            </a:r>
            <a:endParaRPr lang="en-US" sz="3600" dirty="0"/>
          </a:p>
        </p:txBody>
      </p:sp>
      <p:sp>
        <p:nvSpPr>
          <p:cNvPr id="3" name="Text 1"/>
          <p:cNvSpPr txBox="1"/>
          <p:nvPr/>
        </p:nvSpPr>
        <p:spPr>
          <a:xfrm>
            <a:off x="548640" y="1417320"/>
            <a:ext cx="6583680" cy="320040"/>
          </a:xfrm>
          <a:prstGeom prst="rect">
            <a:avLst/>
          </a:prstGeom>
          <a:noFill/>
          <a:ln/>
        </p:spPr>
        <p:txBody>
          <a:bodyPr wrap="square" lIns="0" tIns="0" rIns="0" bIns="0" rtlCol="0" anchor="t"/>
          <a:lstStyle/>
          <a:p>
            <a:pPr indent="0" marL="0">
              <a:buNone/>
            </a:pPr>
            <a:r>
              <a:rPr lang="en-US" sz="1400" b="1" dirty="0">
                <a:solidFill>
                  <a:schemeClr val="accent3"/>
                </a:solidFill>
              </a:rPr>
              <a:t>Chemicals per public source used for training</a:t>
            </a:r>
            <a:endParaRPr lang="en-US" sz="1400" dirty="0"/>
          </a:p>
        </p:txBody>
      </p:sp>
      <p:graphicFrame>
        <p:nvGraphicFramePr>
          <p:cNvPr id="4" name="Chemicals per source" descr="Bar chart: biomolecules 141, inorganic crystals 127, excipients 56, solvents 31, drug adulterants 11"/>
          <p:cNvGraphicFramePr/>
          <p:nvPr/>
        </p:nvGraphicFramePr>
        <p:xfrm>
          <a:off x="548640" y="173736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5" name="Fact 1"/>
          <p:cNvSpPr/>
          <p:nvPr/>
        </p:nvSpPr>
        <p:spPr>
          <a:xfrm>
            <a:off x="7589520" y="1600200"/>
            <a:ext cx="4050792" cy="1280160"/>
          </a:xfrm>
          <a:prstGeom prst="roundRect">
            <a:avLst>
              <a:gd name="adj" fmla="val 5714"/>
            </a:avLst>
          </a:prstGeom>
          <a:solidFill>
            <a:schemeClr val="bg2"/>
          </a:solidFill>
          <a:ln/>
        </p:spPr>
      </p:sp>
      <p:sp>
        <p:nvSpPr>
          <p:cNvPr id="6" name="Text 3"/>
          <p:cNvSpPr txBox="1"/>
          <p:nvPr/>
        </p:nvSpPr>
        <p:spPr>
          <a:xfrm>
            <a:off x="7772400" y="1600200"/>
            <a:ext cx="1600200" cy="12801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4,120</a:t>
            </a:r>
            <a:endParaRPr lang="en-US" sz="3200" dirty="0"/>
          </a:p>
        </p:txBody>
      </p:sp>
      <p:sp>
        <p:nvSpPr>
          <p:cNvPr id="7" name="Text 4"/>
          <p:cNvSpPr txBox="1"/>
          <p:nvPr/>
        </p:nvSpPr>
        <p:spPr>
          <a:xfrm>
            <a:off x="9418320" y="1600200"/>
            <a:ext cx="2039112" cy="1280160"/>
          </a:xfrm>
          <a:prstGeom prst="rect">
            <a:avLst/>
          </a:prstGeom>
          <a:noFill/>
          <a:ln/>
        </p:spPr>
        <p:txBody>
          <a:bodyPr wrap="square" lIns="0" tIns="0" rIns="0" bIns="0" rtlCol="0" anchor="ctr"/>
          <a:lstStyle/>
          <a:p>
            <a:pPr indent="0" marL="0">
              <a:buNone/>
            </a:pPr>
            <a:r>
              <a:rPr lang="en-US" sz="1500" dirty="0">
                <a:solidFill>
                  <a:schemeClr val="tx1"/>
                </a:solidFill>
              </a:rPr>
              <a:t>public spectra used, resampled to one common range</a:t>
            </a:r>
            <a:endParaRPr lang="en-US" sz="1500" dirty="0"/>
          </a:p>
        </p:txBody>
      </p:sp>
      <p:sp>
        <p:nvSpPr>
          <p:cNvPr id="8" name="Fact 2"/>
          <p:cNvSpPr/>
          <p:nvPr/>
        </p:nvSpPr>
        <p:spPr>
          <a:xfrm>
            <a:off x="7589520" y="3081528"/>
            <a:ext cx="4050792" cy="1280160"/>
          </a:xfrm>
          <a:prstGeom prst="roundRect">
            <a:avLst>
              <a:gd name="adj" fmla="val 5714"/>
            </a:avLst>
          </a:prstGeom>
          <a:solidFill>
            <a:schemeClr val="bg2"/>
          </a:solidFill>
          <a:ln/>
        </p:spPr>
      </p:sp>
      <p:sp>
        <p:nvSpPr>
          <p:cNvPr id="9" name="Text 6"/>
          <p:cNvSpPr txBox="1"/>
          <p:nvPr/>
        </p:nvSpPr>
        <p:spPr>
          <a:xfrm>
            <a:off x="7772400" y="3081528"/>
            <a:ext cx="1600200" cy="12801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753</a:t>
            </a:r>
            <a:endParaRPr lang="en-US" sz="3200" dirty="0"/>
          </a:p>
        </p:txBody>
      </p:sp>
      <p:sp>
        <p:nvSpPr>
          <p:cNvPr id="10" name="Text 7"/>
          <p:cNvSpPr txBox="1"/>
          <p:nvPr/>
        </p:nvSpPr>
        <p:spPr>
          <a:xfrm>
            <a:off x="9418320" y="3081528"/>
            <a:ext cx="2039112" cy="1280160"/>
          </a:xfrm>
          <a:prstGeom prst="rect">
            <a:avLst/>
          </a:prstGeom>
          <a:noFill/>
          <a:ln/>
        </p:spPr>
        <p:txBody>
          <a:bodyPr wrap="square" lIns="0" tIns="0" rIns="0" bIns="0" rtlCol="0" anchor="ctr"/>
          <a:lstStyle/>
          <a:p>
            <a:pPr indent="0" marL="0">
              <a:buNone/>
            </a:pPr>
            <a:r>
              <a:rPr lang="en-US" sz="1500" dirty="0">
                <a:solidFill>
                  <a:schemeClr val="tx1"/>
                </a:solidFill>
              </a:rPr>
              <a:t>spectra in our own dataset, across 26 chemicals</a:t>
            </a:r>
            <a:endParaRPr lang="en-US" sz="1500" dirty="0"/>
          </a:p>
        </p:txBody>
      </p:sp>
      <p:sp>
        <p:nvSpPr>
          <p:cNvPr id="11" name="Fact 3"/>
          <p:cNvSpPr/>
          <p:nvPr/>
        </p:nvSpPr>
        <p:spPr>
          <a:xfrm>
            <a:off x="7589520" y="4562856"/>
            <a:ext cx="4050792" cy="1280160"/>
          </a:xfrm>
          <a:prstGeom prst="roundRect">
            <a:avLst>
              <a:gd name="adj" fmla="val 5714"/>
            </a:avLst>
          </a:prstGeom>
          <a:solidFill>
            <a:schemeClr val="bg2"/>
          </a:solidFill>
          <a:ln/>
        </p:spPr>
      </p:sp>
      <p:sp>
        <p:nvSpPr>
          <p:cNvPr id="12" name="Text 9"/>
          <p:cNvSpPr txBox="1"/>
          <p:nvPr/>
        </p:nvSpPr>
        <p:spPr>
          <a:xfrm>
            <a:off x="7772400" y="4562856"/>
            <a:ext cx="1600200" cy="12801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a:t>
            </a:r>
            <a:endParaRPr lang="en-US" sz="3200" dirty="0"/>
          </a:p>
        </p:txBody>
      </p:sp>
      <p:sp>
        <p:nvSpPr>
          <p:cNvPr id="13" name="Text 10"/>
          <p:cNvSpPr txBox="1"/>
          <p:nvPr/>
        </p:nvSpPr>
        <p:spPr>
          <a:xfrm>
            <a:off x="9418320" y="4562856"/>
            <a:ext cx="2039112" cy="1280160"/>
          </a:xfrm>
          <a:prstGeom prst="rect">
            <a:avLst/>
          </a:prstGeom>
          <a:noFill/>
          <a:ln/>
        </p:spPr>
        <p:txBody>
          <a:bodyPr wrap="square" lIns="0" tIns="0" rIns="0" bIns="0" rtlCol="0" anchor="ctr"/>
          <a:lstStyle/>
          <a:p>
            <a:pPr indent="0" marL="0">
              <a:buNone/>
            </a:pPr>
            <a:r>
              <a:rPr lang="en-US" sz="1500" dirty="0">
                <a:solidFill>
                  <a:schemeClr val="tx1"/>
                </a:solidFill>
              </a:rPr>
              <a:t>public spectra for explosives or narcotics</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Most chemicals have one or two spectra</a:t>
            </a:r>
            <a:endParaRPr lang="en-US" sz="3600" dirty="0"/>
          </a:p>
        </p:txBody>
      </p:sp>
      <p:sp>
        <p:nvSpPr>
          <p:cNvPr id="3" name="Text 1"/>
          <p:cNvSpPr txBox="1"/>
          <p:nvPr/>
        </p:nvSpPr>
        <p:spPr>
          <a:xfrm>
            <a:off x="548640" y="1417320"/>
            <a:ext cx="6035040" cy="320040"/>
          </a:xfrm>
          <a:prstGeom prst="rect">
            <a:avLst/>
          </a:prstGeom>
          <a:noFill/>
          <a:ln/>
        </p:spPr>
        <p:txBody>
          <a:bodyPr wrap="square" lIns="0" tIns="0" rIns="0" bIns="0" rtlCol="0" anchor="t"/>
          <a:lstStyle/>
          <a:p>
            <a:pPr indent="0" marL="0">
              <a:buNone/>
            </a:pPr>
            <a:r>
              <a:rPr lang="en-US" sz="1400" b="1" dirty="0">
                <a:solidFill>
                  <a:schemeClr val="accent3"/>
                </a:solidFill>
              </a:rPr>
              <a:t>Number of chemicals, by real spectra available</a:t>
            </a:r>
            <a:endParaRPr lang="en-US" sz="1400" dirty="0"/>
          </a:p>
        </p:txBody>
      </p:sp>
      <p:graphicFrame>
        <p:nvGraphicFramePr>
          <p:cNvPr id="4" name="Spectra per chemical" descr="Column chart: 170 chemicals have one spectrum, 84 have two, 69 have three to five, 6 have six to fifty, 31 have over fifty"/>
          <p:cNvGraphicFramePr/>
          <p:nvPr/>
        </p:nvGraphicFramePr>
        <p:xfrm>
          <a:off x="548640" y="1737360"/>
          <a:ext cx="6035040" cy="4297680"/>
        </p:xfrm>
        <a:graphic xmlns:a="http://schemas.openxmlformats.org/drawingml/2006/main">
          <a:graphicData uri="http://schemas.openxmlformats.org/drawingml/2006/chart">
            <c:chart xmlns:c="http://schemas.openxmlformats.org/drawingml/2006/chart" r:id="rId1"/>
          </a:graphicData>
        </a:graphic>
      </p:graphicFrame>
      <p:sp>
        <p:nvSpPr>
          <p:cNvPr id="5" name="Badge 1"/>
          <p:cNvSpPr/>
          <p:nvPr/>
        </p:nvSpPr>
        <p:spPr>
          <a:xfrm>
            <a:off x="7040880" y="1737360"/>
            <a:ext cx="457200" cy="457200"/>
          </a:xfrm>
          <a:prstGeom prst="ellipse">
            <a:avLst/>
          </a:prstGeom>
          <a:solidFill>
            <a:schemeClr val="accent1"/>
          </a:solidFill>
          <a:ln/>
        </p:spPr>
      </p:sp>
      <p:sp>
        <p:nvSpPr>
          <p:cNvPr id="6" name="Text 3"/>
          <p:cNvSpPr txBox="1"/>
          <p:nvPr/>
        </p:nvSpPr>
        <p:spPr>
          <a:xfrm>
            <a:off x="704088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680960" y="1691640"/>
            <a:ext cx="3959352" cy="411480"/>
          </a:xfrm>
          <a:prstGeom prst="rect">
            <a:avLst/>
          </a:prstGeom>
          <a:noFill/>
          <a:ln/>
        </p:spPr>
        <p:txBody>
          <a:bodyPr wrap="square" lIns="0" tIns="0" rIns="0" bIns="0" rtlCol="0" anchor="ctr"/>
          <a:lstStyle/>
          <a:p>
            <a:pPr indent="0" marL="0">
              <a:buNone/>
            </a:pPr>
            <a:r>
              <a:rPr lang="en-US" sz="1800" b="1" dirty="0">
                <a:solidFill>
                  <a:schemeClr val="tx1"/>
                </a:solidFill>
              </a:rPr>
              <a:t>Few examples to learn from</a:t>
            </a:r>
            <a:endParaRPr lang="en-US" sz="1800" dirty="0"/>
          </a:p>
        </p:txBody>
      </p:sp>
      <p:sp>
        <p:nvSpPr>
          <p:cNvPr id="8" name="Text 5"/>
          <p:cNvSpPr txBox="1"/>
          <p:nvPr/>
        </p:nvSpPr>
        <p:spPr>
          <a:xfrm>
            <a:off x="7680960" y="2148840"/>
            <a:ext cx="3959352" cy="868680"/>
          </a:xfrm>
          <a:prstGeom prst="rect">
            <a:avLst/>
          </a:prstGeom>
          <a:noFill/>
          <a:ln/>
        </p:spPr>
        <p:txBody>
          <a:bodyPr wrap="square" lIns="0" tIns="0" rIns="0" bIns="0" rtlCol="0" anchor="t"/>
          <a:lstStyle/>
          <a:p>
            <a:pPr indent="0" marL="0">
              <a:buNone/>
            </a:pPr>
            <a:r>
              <a:rPr lang="en-US" sz="1500" dirty="0">
                <a:solidFill>
                  <a:schemeClr val="tx1"/>
                </a:solidFill>
              </a:rPr>
              <a:t>254 of 360 chemicals have at most two spectra, so extra training copies were generated from each one.</a:t>
            </a:r>
            <a:endParaRPr lang="en-US" sz="1500" dirty="0"/>
          </a:p>
        </p:txBody>
      </p:sp>
      <p:sp>
        <p:nvSpPr>
          <p:cNvPr id="9" name="Badge 2"/>
          <p:cNvSpPr/>
          <p:nvPr/>
        </p:nvSpPr>
        <p:spPr>
          <a:xfrm>
            <a:off x="7040880" y="3200400"/>
            <a:ext cx="457200" cy="457200"/>
          </a:xfrm>
          <a:prstGeom prst="ellipse">
            <a:avLst/>
          </a:prstGeom>
          <a:solidFill>
            <a:schemeClr val="accent1"/>
          </a:solidFill>
          <a:ln/>
        </p:spPr>
      </p:sp>
      <p:sp>
        <p:nvSpPr>
          <p:cNvPr id="10" name="Text 7"/>
          <p:cNvSpPr txBox="1"/>
          <p:nvPr/>
        </p:nvSpPr>
        <p:spPr>
          <a:xfrm>
            <a:off x="704088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680960" y="3154680"/>
            <a:ext cx="3959352" cy="411480"/>
          </a:xfrm>
          <a:prstGeom prst="rect">
            <a:avLst/>
          </a:prstGeom>
          <a:noFill/>
          <a:ln/>
        </p:spPr>
        <p:txBody>
          <a:bodyPr wrap="square" lIns="0" tIns="0" rIns="0" bIns="0" rtlCol="0" anchor="ctr"/>
          <a:lstStyle/>
          <a:p>
            <a:pPr indent="0" marL="0">
              <a:buNone/>
            </a:pPr>
            <a:r>
              <a:rPr lang="en-US" sz="1800" b="1" dirty="0">
                <a:solidFill>
                  <a:schemeClr val="tx1"/>
                </a:solidFill>
              </a:rPr>
              <a:t>Sources are not comparable as-is</a:t>
            </a:r>
            <a:endParaRPr lang="en-US" sz="1800" dirty="0"/>
          </a:p>
        </p:txBody>
      </p:sp>
      <p:sp>
        <p:nvSpPr>
          <p:cNvPr id="12" name="Text 9"/>
          <p:cNvSpPr txBox="1"/>
          <p:nvPr/>
        </p:nvSpPr>
        <p:spPr>
          <a:xfrm>
            <a:off x="7680960" y="3611880"/>
            <a:ext cx="3959352" cy="868680"/>
          </a:xfrm>
          <a:prstGeom prst="rect">
            <a:avLst/>
          </a:prstGeom>
          <a:noFill/>
          <a:ln/>
        </p:spPr>
        <p:txBody>
          <a:bodyPr wrap="square" lIns="0" tIns="0" rIns="0" bIns="0" rtlCol="0" anchor="t"/>
          <a:lstStyle/>
          <a:p>
            <a:pPr indent="0" marL="0">
              <a:buNone/>
            </a:pPr>
            <a:r>
              <a:rPr lang="en-US" sz="1500" dirty="0">
                <a:solidFill>
                  <a:schemeClr val="tx1"/>
                </a:solidFill>
              </a:rPr>
              <a:t>Intensity scales differ by a factor of 100,000 and only 450 to 1,800 cm-1 is covered by all.</a:t>
            </a:r>
            <a:endParaRPr lang="en-US" sz="1500" dirty="0"/>
          </a:p>
        </p:txBody>
      </p:sp>
      <p:sp>
        <p:nvSpPr>
          <p:cNvPr id="13" name="Badge 3"/>
          <p:cNvSpPr/>
          <p:nvPr/>
        </p:nvSpPr>
        <p:spPr>
          <a:xfrm>
            <a:off x="7040880" y="4663440"/>
            <a:ext cx="457200" cy="457200"/>
          </a:xfrm>
          <a:prstGeom prst="ellipse">
            <a:avLst/>
          </a:prstGeom>
          <a:solidFill>
            <a:schemeClr val="accent1"/>
          </a:solidFill>
          <a:ln/>
        </p:spPr>
      </p:sp>
      <p:sp>
        <p:nvSpPr>
          <p:cNvPr id="14" name="Text 11"/>
          <p:cNvSpPr txBox="1"/>
          <p:nvPr/>
        </p:nvSpPr>
        <p:spPr>
          <a:xfrm>
            <a:off x="7040880" y="4663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7680960" y="4617720"/>
            <a:ext cx="3959352" cy="411480"/>
          </a:xfrm>
          <a:prstGeom prst="rect">
            <a:avLst/>
          </a:prstGeom>
          <a:noFill/>
          <a:ln/>
        </p:spPr>
        <p:txBody>
          <a:bodyPr wrap="square" lIns="0" tIns="0" rIns="0" bIns="0" rtlCol="0" anchor="ctr"/>
          <a:lstStyle/>
          <a:p>
            <a:pPr indent="0" marL="0">
              <a:buNone/>
            </a:pPr>
            <a:r>
              <a:rPr lang="en-US" sz="1800" b="1" dirty="0">
                <a:solidFill>
                  <a:schemeClr val="tx1"/>
                </a:solidFill>
              </a:rPr>
              <a:t>Some chemicals look identical</a:t>
            </a:r>
            <a:endParaRPr lang="en-US" sz="1800" dirty="0"/>
          </a:p>
        </p:txBody>
      </p:sp>
      <p:sp>
        <p:nvSpPr>
          <p:cNvPr id="16" name="Text 13"/>
          <p:cNvSpPr txBox="1"/>
          <p:nvPr/>
        </p:nvSpPr>
        <p:spPr>
          <a:xfrm>
            <a:off x="7680960" y="5074920"/>
            <a:ext cx="3959352" cy="868680"/>
          </a:xfrm>
          <a:prstGeom prst="rect">
            <a:avLst/>
          </a:prstGeom>
          <a:noFill/>
          <a:ln/>
        </p:spPr>
        <p:txBody>
          <a:bodyPr wrap="square" lIns="0" tIns="0" rIns="0" bIns="0" rtlCol="0" anchor="t"/>
          <a:lstStyle/>
          <a:p>
            <a:pPr indent="0" marL="0">
              <a:buNone/>
            </a:pPr>
            <a:r>
              <a:rPr lang="en-US" sz="1500" dirty="0">
                <a:solidFill>
                  <a:schemeClr val="tx1"/>
                </a:solidFill>
              </a:rPr>
              <a:t>33 pairs have nearly the same spectrum; 19 duplicate names were merged.</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Background removal is the key step</a:t>
            </a:r>
            <a:endParaRPr lang="en-US" sz="3600" dirty="0"/>
          </a:p>
        </p:txBody>
      </p:sp>
      <p:sp>
        <p:nvSpPr>
          <p:cNvPr id="3" name="Step 1"/>
          <p:cNvSpPr/>
          <p:nvPr/>
        </p:nvSpPr>
        <p:spPr>
          <a:xfrm>
            <a:off x="548640" y="1508760"/>
            <a:ext cx="2035454" cy="868680"/>
          </a:xfrm>
          <a:prstGeom prst="roundRect">
            <a:avLst>
              <a:gd name="adj" fmla="val 8421"/>
            </a:avLst>
          </a:prstGeom>
          <a:solidFill>
            <a:schemeClr val="bg2"/>
          </a:solidFill>
          <a:ln/>
        </p:spPr>
      </p:sp>
      <p:sp>
        <p:nvSpPr>
          <p:cNvPr id="4" name="Text 2"/>
          <p:cNvSpPr txBox="1"/>
          <p:nvPr/>
        </p:nvSpPr>
        <p:spPr>
          <a:xfrm>
            <a:off x="685800" y="1508760"/>
            <a:ext cx="1761134" cy="868680"/>
          </a:xfrm>
          <a:prstGeom prst="rect">
            <a:avLst/>
          </a:prstGeom>
          <a:noFill/>
          <a:ln/>
        </p:spPr>
        <p:txBody>
          <a:bodyPr wrap="square" lIns="0" tIns="0" rIns="0" bIns="0" rtlCol="0" anchor="ctr"/>
          <a:lstStyle/>
          <a:p>
            <a:pPr indent="0" marL="0">
              <a:buNone/>
            </a:pPr>
            <a:r>
              <a:rPr lang="en-US" sz="1400" b="1" dirty="0">
                <a:solidFill>
                  <a:schemeClr val="tx1"/>
                </a:solidFill>
              </a:rPr>
              <a:t>1  </a:t>
            </a:r>
            <a:pPr indent="0" marL="0">
              <a:buNone/>
            </a:pPr>
            <a:r>
              <a:rPr lang="en-US" sz="1400" dirty="0">
                <a:solidFill>
                  <a:schemeClr val="tx1"/>
                </a:solidFill>
              </a:rPr>
              <a:t>Resample to 450-1,800 cm-1</a:t>
            </a:r>
            <a:endParaRPr lang="en-US" sz="1400" dirty="0"/>
          </a:p>
        </p:txBody>
      </p:sp>
      <p:sp>
        <p:nvSpPr>
          <p:cNvPr id="5" name="Step 2"/>
          <p:cNvSpPr/>
          <p:nvPr/>
        </p:nvSpPr>
        <p:spPr>
          <a:xfrm>
            <a:off x="2812694" y="1508760"/>
            <a:ext cx="2035454" cy="868680"/>
          </a:xfrm>
          <a:prstGeom prst="roundRect">
            <a:avLst>
              <a:gd name="adj" fmla="val 8421"/>
            </a:avLst>
          </a:prstGeom>
          <a:solidFill>
            <a:schemeClr val="bg2"/>
          </a:solidFill>
          <a:ln/>
        </p:spPr>
      </p:sp>
      <p:sp>
        <p:nvSpPr>
          <p:cNvPr id="6" name="Text 4"/>
          <p:cNvSpPr txBox="1"/>
          <p:nvPr/>
        </p:nvSpPr>
        <p:spPr>
          <a:xfrm>
            <a:off x="2949854" y="1508760"/>
            <a:ext cx="1761134" cy="868680"/>
          </a:xfrm>
          <a:prstGeom prst="rect">
            <a:avLst/>
          </a:prstGeom>
          <a:noFill/>
          <a:ln/>
        </p:spPr>
        <p:txBody>
          <a:bodyPr wrap="square" lIns="0" tIns="0" rIns="0" bIns="0" rtlCol="0" anchor="ctr"/>
          <a:lstStyle/>
          <a:p>
            <a:pPr indent="0" marL="0">
              <a:buNone/>
            </a:pPr>
            <a:r>
              <a:rPr lang="en-US" sz="1400" b="1" dirty="0">
                <a:solidFill>
                  <a:schemeClr val="tx1"/>
                </a:solidFill>
              </a:rPr>
              <a:t>2  </a:t>
            </a:r>
            <a:pPr indent="0" marL="0">
              <a:buNone/>
            </a:pPr>
            <a:r>
              <a:rPr lang="en-US" sz="1400" dirty="0">
                <a:solidFill>
                  <a:schemeClr val="tx1"/>
                </a:solidFill>
              </a:rPr>
              <a:t>Smooth</a:t>
            </a:r>
            <a:endParaRPr lang="en-US" sz="1400" dirty="0"/>
          </a:p>
        </p:txBody>
      </p:sp>
      <p:sp>
        <p:nvSpPr>
          <p:cNvPr id="7" name="Step 3"/>
          <p:cNvSpPr/>
          <p:nvPr/>
        </p:nvSpPr>
        <p:spPr>
          <a:xfrm>
            <a:off x="5076749" y="1508760"/>
            <a:ext cx="2035454" cy="868680"/>
          </a:xfrm>
          <a:prstGeom prst="roundRect">
            <a:avLst>
              <a:gd name="adj" fmla="val 8421"/>
            </a:avLst>
          </a:prstGeom>
          <a:solidFill>
            <a:schemeClr val="accent2"/>
          </a:solidFill>
          <a:ln/>
        </p:spPr>
      </p:sp>
      <p:sp>
        <p:nvSpPr>
          <p:cNvPr id="8" name="Text 6"/>
          <p:cNvSpPr txBox="1"/>
          <p:nvPr/>
        </p:nvSpPr>
        <p:spPr>
          <a:xfrm>
            <a:off x="5213909" y="1508760"/>
            <a:ext cx="1761134" cy="868680"/>
          </a:xfrm>
          <a:prstGeom prst="rect">
            <a:avLst/>
          </a:prstGeom>
          <a:noFill/>
          <a:ln/>
        </p:spPr>
        <p:txBody>
          <a:bodyPr wrap="square" lIns="0" tIns="0" rIns="0" bIns="0" rtlCol="0" anchor="ctr"/>
          <a:lstStyle/>
          <a:p>
            <a:pPr indent="0" marL="0">
              <a:buNone/>
            </a:pPr>
            <a:r>
              <a:rPr lang="en-US" sz="1400" b="1" dirty="0">
                <a:solidFill>
                  <a:schemeClr val="bg1"/>
                </a:solidFill>
              </a:rPr>
              <a:t>3  </a:t>
            </a:r>
            <a:pPr indent="0" marL="0">
              <a:buNone/>
            </a:pPr>
            <a:r>
              <a:rPr lang="en-US" sz="1400" dirty="0">
                <a:solidFill>
                  <a:schemeClr val="bg1"/>
                </a:solidFill>
              </a:rPr>
              <a:t>Remove background</a:t>
            </a:r>
            <a:endParaRPr lang="en-US" sz="1400" dirty="0"/>
          </a:p>
        </p:txBody>
      </p:sp>
      <p:sp>
        <p:nvSpPr>
          <p:cNvPr id="9" name="Step 4"/>
          <p:cNvSpPr/>
          <p:nvPr/>
        </p:nvSpPr>
        <p:spPr>
          <a:xfrm>
            <a:off x="7340803" y="1508760"/>
            <a:ext cx="2035454" cy="868680"/>
          </a:xfrm>
          <a:prstGeom prst="roundRect">
            <a:avLst>
              <a:gd name="adj" fmla="val 8421"/>
            </a:avLst>
          </a:prstGeom>
          <a:solidFill>
            <a:schemeClr val="bg2"/>
          </a:solidFill>
          <a:ln/>
        </p:spPr>
      </p:sp>
      <p:sp>
        <p:nvSpPr>
          <p:cNvPr id="10" name="Text 8"/>
          <p:cNvSpPr txBox="1"/>
          <p:nvPr/>
        </p:nvSpPr>
        <p:spPr>
          <a:xfrm>
            <a:off x="7477963" y="1508760"/>
            <a:ext cx="1761134" cy="868680"/>
          </a:xfrm>
          <a:prstGeom prst="rect">
            <a:avLst/>
          </a:prstGeom>
          <a:noFill/>
          <a:ln/>
        </p:spPr>
        <p:txBody>
          <a:bodyPr wrap="square" lIns="0" tIns="0" rIns="0" bIns="0" rtlCol="0" anchor="ctr"/>
          <a:lstStyle/>
          <a:p>
            <a:pPr indent="0" marL="0">
              <a:buNone/>
            </a:pPr>
            <a:r>
              <a:rPr lang="en-US" sz="1400" b="1" dirty="0">
                <a:solidFill>
                  <a:schemeClr val="tx1"/>
                </a:solidFill>
              </a:rPr>
              <a:t>4  </a:t>
            </a:r>
            <a:pPr indent="0" marL="0">
              <a:buNone/>
            </a:pPr>
            <a:r>
              <a:rPr lang="en-US" sz="1400" dirty="0">
                <a:solidFill>
                  <a:schemeClr val="tx1"/>
                </a:solidFill>
              </a:rPr>
              <a:t>Square-root scale</a:t>
            </a:r>
            <a:endParaRPr lang="en-US" sz="1400" dirty="0"/>
          </a:p>
        </p:txBody>
      </p:sp>
      <p:sp>
        <p:nvSpPr>
          <p:cNvPr id="11" name="Step 5"/>
          <p:cNvSpPr/>
          <p:nvPr/>
        </p:nvSpPr>
        <p:spPr>
          <a:xfrm>
            <a:off x="9604858" y="1508760"/>
            <a:ext cx="2035454" cy="868680"/>
          </a:xfrm>
          <a:prstGeom prst="roundRect">
            <a:avLst>
              <a:gd name="adj" fmla="val 8421"/>
            </a:avLst>
          </a:prstGeom>
          <a:solidFill>
            <a:schemeClr val="bg2"/>
          </a:solidFill>
          <a:ln/>
        </p:spPr>
      </p:sp>
      <p:sp>
        <p:nvSpPr>
          <p:cNvPr id="12" name="Text 10"/>
          <p:cNvSpPr txBox="1"/>
          <p:nvPr/>
        </p:nvSpPr>
        <p:spPr>
          <a:xfrm>
            <a:off x="9742018" y="1508760"/>
            <a:ext cx="1761134" cy="868680"/>
          </a:xfrm>
          <a:prstGeom prst="rect">
            <a:avLst/>
          </a:prstGeom>
          <a:noFill/>
          <a:ln/>
        </p:spPr>
        <p:txBody>
          <a:bodyPr wrap="square" lIns="0" tIns="0" rIns="0" bIns="0" rtlCol="0" anchor="ctr"/>
          <a:lstStyle/>
          <a:p>
            <a:pPr indent="0" marL="0">
              <a:buNone/>
            </a:pPr>
            <a:r>
              <a:rPr lang="en-US" sz="1400" b="1" dirty="0">
                <a:solidFill>
                  <a:schemeClr val="tx1"/>
                </a:solidFill>
              </a:rPr>
              <a:t>5  </a:t>
            </a:r>
            <a:pPr indent="0" marL="0">
              <a:buNone/>
            </a:pPr>
            <a:r>
              <a:rPr lang="en-US" sz="1400" dirty="0">
                <a:solidFill>
                  <a:schemeClr val="tx1"/>
                </a:solidFill>
              </a:rPr>
              <a:t>Normalise</a:t>
            </a:r>
            <a:endParaRPr lang="en-US" sz="1400" dirty="0"/>
          </a:p>
        </p:txBody>
      </p:sp>
      <p:sp>
        <p:nvSpPr>
          <p:cNvPr id="13" name="Text 11"/>
          <p:cNvSpPr txBox="1"/>
          <p:nvPr/>
        </p:nvSpPr>
        <p:spPr>
          <a:xfrm>
            <a:off x="548640" y="2697480"/>
            <a:ext cx="6949440" cy="320040"/>
          </a:xfrm>
          <a:prstGeom prst="rect">
            <a:avLst/>
          </a:prstGeom>
          <a:noFill/>
          <a:ln/>
        </p:spPr>
        <p:txBody>
          <a:bodyPr wrap="square" lIns="0" tIns="0" rIns="0" bIns="0" rtlCol="0" anchor="t"/>
          <a:lstStyle/>
          <a:p>
            <a:pPr indent="0" marL="0">
              <a:buNone/>
            </a:pPr>
            <a:r>
              <a:rPr lang="en-US" sz="1400" b="1" dirty="0">
                <a:solidFill>
                  <a:schemeClr val="accent3"/>
                </a:solidFill>
              </a:rPr>
              <a:t>Correct first guess when the test instrument differs from the reference</a:t>
            </a:r>
            <a:endParaRPr lang="en-US" sz="1400" dirty="0"/>
          </a:p>
        </p:txBody>
      </p:sp>
      <p:graphicFrame>
        <p:nvGraphicFramePr>
          <p:cNvPr id="14" name="Preprocessing effect" descr="Clustered columns: cross-instrument accuracy rises from 59 and 41 percent without background removal to 89 and 80 percent with removal and square-root scaling"/>
          <p:cNvGraphicFramePr/>
          <p:nvPr/>
        </p:nvGraphicFramePr>
        <p:xfrm>
          <a:off x="548640" y="3017520"/>
          <a:ext cx="6949440" cy="3108960"/>
        </p:xfrm>
        <a:graphic xmlns:a="http://schemas.openxmlformats.org/drawingml/2006/main">
          <a:graphicData uri="http://schemas.openxmlformats.org/drawingml/2006/chart">
            <c:chart xmlns:c="http://schemas.openxmlformats.org/drawingml/2006/chart" r:id="rId1"/>
          </a:graphicData>
        </a:graphic>
      </p:graphicFrame>
      <p:sp>
        <p:nvSpPr>
          <p:cNvPr id="15" name="Feature note"/>
          <p:cNvSpPr/>
          <p:nvPr/>
        </p:nvSpPr>
        <p:spPr>
          <a:xfrm>
            <a:off x="7955280" y="3017520"/>
            <a:ext cx="3685032" cy="3017520"/>
          </a:xfrm>
          <a:prstGeom prst="roundRect">
            <a:avLst>
              <a:gd name="adj" fmla="val 2424"/>
            </a:avLst>
          </a:prstGeom>
          <a:solidFill>
            <a:schemeClr val="bg2"/>
          </a:solidFill>
          <a:ln/>
        </p:spPr>
      </p:sp>
      <p:sp>
        <p:nvSpPr>
          <p:cNvPr id="16" name="Text 13"/>
          <p:cNvSpPr txBox="1"/>
          <p:nvPr/>
        </p:nvSpPr>
        <p:spPr>
          <a:xfrm>
            <a:off x="8183880" y="3200400"/>
            <a:ext cx="3227832"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700 of 1,351</a:t>
            </a:r>
            <a:endParaRPr lang="en-US" sz="3200" dirty="0"/>
          </a:p>
        </p:txBody>
      </p:sp>
      <p:sp>
        <p:nvSpPr>
          <p:cNvPr id="17" name="Text 14"/>
          <p:cNvSpPr txBox="1"/>
          <p:nvPr/>
        </p:nvSpPr>
        <p:spPr>
          <a:xfrm>
            <a:off x="8183880" y="3977640"/>
            <a:ext cx="3227832" cy="1920240"/>
          </a:xfrm>
          <a:prstGeom prst="rect">
            <a:avLst/>
          </a:prstGeom>
          <a:noFill/>
          <a:ln/>
        </p:spPr>
        <p:txBody>
          <a:bodyPr wrap="square" lIns="0" tIns="0" rIns="0" bIns="0" rtlCol="0" anchor="t"/>
          <a:lstStyle/>
          <a:p>
            <a:pPr indent="0" marL="0">
              <a:buNone/>
            </a:pPr>
            <a:r>
              <a:rPr lang="en-US" sz="1500" dirty="0">
                <a:solidFill>
                  <a:schemeClr val="tx1"/>
                </a:solidFill>
              </a:rPr>
              <a:t>wavenumbers kept as the important features. Accuracy was unchanged against using all of them, and fell when fewer than 400 were kept.</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93% correct on unseen public spectra</a:t>
            </a:r>
            <a:endParaRPr lang="en-US" sz="3600" dirty="0"/>
          </a:p>
        </p:txBody>
      </p:sp>
      <p:sp>
        <p:nvSpPr>
          <p:cNvPr id="3" name="Text 1"/>
          <p:cNvSpPr txBox="1"/>
          <p:nvPr/>
        </p:nvSpPr>
        <p:spPr>
          <a:xfrm>
            <a:off x="548640" y="1417320"/>
            <a:ext cx="6583680" cy="320040"/>
          </a:xfrm>
          <a:prstGeom prst="rect">
            <a:avLst/>
          </a:prstGeom>
          <a:noFill/>
          <a:ln/>
        </p:spPr>
        <p:txBody>
          <a:bodyPr wrap="square" lIns="0" tIns="0" rIns="0" bIns="0" rtlCol="0" anchor="t"/>
          <a:lstStyle/>
          <a:p>
            <a:pPr indent="0" marL="0">
              <a:buNone/>
            </a:pPr>
            <a:r>
              <a:rPr lang="en-US" sz="1400" b="1" dirty="0">
                <a:solidFill>
                  <a:schemeClr val="accent3"/>
                </a:solidFill>
              </a:rPr>
              <a:t>Correct first guess, final model</a:t>
            </a:r>
            <a:endParaRPr lang="en-US" sz="1400" dirty="0"/>
          </a:p>
        </p:txBody>
      </p:sp>
      <p:graphicFrame>
        <p:nvGraphicFramePr>
          <p:cNvPr id="4" name="Validation accuracy" descr="Bar chart: 93.4 percent on held-back public spectra, 88.0 and 85.3 percent on the two cross-instrument tests"/>
          <p:cNvGraphicFramePr/>
          <p:nvPr/>
        </p:nvGraphicFramePr>
        <p:xfrm>
          <a:off x="548640" y="173736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5" name="Model fact 1"/>
          <p:cNvSpPr/>
          <p:nvPr/>
        </p:nvSpPr>
        <p:spPr>
          <a:xfrm>
            <a:off x="7589520" y="1600200"/>
            <a:ext cx="4050792" cy="1280160"/>
          </a:xfrm>
          <a:prstGeom prst="roundRect">
            <a:avLst>
              <a:gd name="adj" fmla="val 5714"/>
            </a:avLst>
          </a:prstGeom>
          <a:solidFill>
            <a:schemeClr val="bg2"/>
          </a:solidFill>
          <a:ln/>
        </p:spPr>
      </p:sp>
      <p:sp>
        <p:nvSpPr>
          <p:cNvPr id="6" name="Text 3"/>
          <p:cNvSpPr txBox="1"/>
          <p:nvPr/>
        </p:nvSpPr>
        <p:spPr>
          <a:xfrm>
            <a:off x="7818120" y="1737360"/>
            <a:ext cx="3593592" cy="365760"/>
          </a:xfrm>
          <a:prstGeom prst="rect">
            <a:avLst/>
          </a:prstGeom>
          <a:noFill/>
          <a:ln/>
        </p:spPr>
        <p:txBody>
          <a:bodyPr wrap="square" lIns="0" tIns="0" rIns="0" bIns="0" rtlCol="0" anchor="t"/>
          <a:lstStyle/>
          <a:p>
            <a:pPr indent="0" marL="0">
              <a:buNone/>
            </a:pPr>
            <a:r>
              <a:rPr lang="en-US" sz="1600" b="1" dirty="0">
                <a:solidFill>
                  <a:schemeClr val="accent1"/>
                </a:solidFill>
              </a:rPr>
              <a:t>Model</a:t>
            </a:r>
            <a:endParaRPr lang="en-US" sz="1600" dirty="0"/>
          </a:p>
        </p:txBody>
      </p:sp>
      <p:sp>
        <p:nvSpPr>
          <p:cNvPr id="7" name="Text 4"/>
          <p:cNvSpPr txBox="1"/>
          <p:nvPr/>
        </p:nvSpPr>
        <p:spPr>
          <a:xfrm>
            <a:off x="7818120" y="2103120"/>
            <a:ext cx="3593592" cy="731520"/>
          </a:xfrm>
          <a:prstGeom prst="rect">
            <a:avLst/>
          </a:prstGeom>
          <a:noFill/>
          <a:ln/>
        </p:spPr>
        <p:txBody>
          <a:bodyPr wrap="square" lIns="0" tIns="0" rIns="0" bIns="0" rtlCol="0" anchor="t"/>
          <a:lstStyle/>
          <a:p>
            <a:pPr indent="0" marL="0">
              <a:buNone/>
            </a:pPr>
            <a:r>
              <a:rPr lang="en-US" sz="1400" dirty="0">
                <a:solidFill>
                  <a:schemeClr val="tx1"/>
                </a:solidFill>
              </a:rPr>
              <a:t>Library matching combined with logistic regression</a:t>
            </a:r>
            <a:endParaRPr lang="en-US" sz="1400" dirty="0"/>
          </a:p>
        </p:txBody>
      </p:sp>
      <p:sp>
        <p:nvSpPr>
          <p:cNvPr id="8" name="Model fact 2"/>
          <p:cNvSpPr/>
          <p:nvPr/>
        </p:nvSpPr>
        <p:spPr>
          <a:xfrm>
            <a:off x="7589520" y="3081528"/>
            <a:ext cx="4050792" cy="1280160"/>
          </a:xfrm>
          <a:prstGeom prst="roundRect">
            <a:avLst>
              <a:gd name="adj" fmla="val 5714"/>
            </a:avLst>
          </a:prstGeom>
          <a:solidFill>
            <a:schemeClr val="bg2"/>
          </a:solidFill>
          <a:ln/>
        </p:spPr>
      </p:sp>
      <p:sp>
        <p:nvSpPr>
          <p:cNvPr id="9" name="Text 6"/>
          <p:cNvSpPr txBox="1"/>
          <p:nvPr/>
        </p:nvSpPr>
        <p:spPr>
          <a:xfrm>
            <a:off x="7818120" y="3218688"/>
            <a:ext cx="3593592" cy="365760"/>
          </a:xfrm>
          <a:prstGeom prst="rect">
            <a:avLst/>
          </a:prstGeom>
          <a:noFill/>
          <a:ln/>
        </p:spPr>
        <p:txBody>
          <a:bodyPr wrap="square" lIns="0" tIns="0" rIns="0" bIns="0" rtlCol="0" anchor="t"/>
          <a:lstStyle/>
          <a:p>
            <a:pPr indent="0" marL="0">
              <a:buNone/>
            </a:pPr>
            <a:r>
              <a:rPr lang="en-US" sz="1600" b="1" dirty="0">
                <a:solidFill>
                  <a:schemeClr val="accent1"/>
                </a:solidFill>
              </a:rPr>
              <a:t>Training set</a:t>
            </a:r>
            <a:endParaRPr lang="en-US" sz="1600" dirty="0"/>
          </a:p>
        </p:txBody>
      </p:sp>
      <p:sp>
        <p:nvSpPr>
          <p:cNvPr id="10" name="Text 7"/>
          <p:cNvSpPr txBox="1"/>
          <p:nvPr/>
        </p:nvSpPr>
        <p:spPr>
          <a:xfrm>
            <a:off x="7818120" y="3584448"/>
            <a:ext cx="3593592" cy="731520"/>
          </a:xfrm>
          <a:prstGeom prst="rect">
            <a:avLst/>
          </a:prstGeom>
          <a:noFill/>
          <a:ln/>
        </p:spPr>
        <p:txBody>
          <a:bodyPr wrap="square" lIns="0" tIns="0" rIns="0" bIns="0" rtlCol="0" anchor="t"/>
          <a:lstStyle/>
          <a:p>
            <a:pPr indent="0" marL="0">
              <a:buNone/>
            </a:pPr>
            <a:r>
              <a:rPr lang="en-US" sz="1400" dirty="0">
                <a:solidFill>
                  <a:schemeClr val="tx1"/>
                </a:solidFill>
              </a:rPr>
              <a:t>28,800 spectra: real ones plus generated copies, 80 per chemical</a:t>
            </a:r>
            <a:endParaRPr lang="en-US" sz="1400" dirty="0"/>
          </a:p>
        </p:txBody>
      </p:sp>
      <p:sp>
        <p:nvSpPr>
          <p:cNvPr id="11" name="Model fact 3"/>
          <p:cNvSpPr/>
          <p:nvPr/>
        </p:nvSpPr>
        <p:spPr>
          <a:xfrm>
            <a:off x="7589520" y="4562856"/>
            <a:ext cx="4050792" cy="1280160"/>
          </a:xfrm>
          <a:prstGeom prst="roundRect">
            <a:avLst>
              <a:gd name="adj" fmla="val 5714"/>
            </a:avLst>
          </a:prstGeom>
          <a:solidFill>
            <a:schemeClr val="bg2"/>
          </a:solidFill>
          <a:ln/>
        </p:spPr>
      </p:sp>
      <p:sp>
        <p:nvSpPr>
          <p:cNvPr id="12" name="Text 9"/>
          <p:cNvSpPr txBox="1"/>
          <p:nvPr/>
        </p:nvSpPr>
        <p:spPr>
          <a:xfrm>
            <a:off x="7818120" y="4700016"/>
            <a:ext cx="3593592" cy="365760"/>
          </a:xfrm>
          <a:prstGeom prst="rect">
            <a:avLst/>
          </a:prstGeom>
          <a:noFill/>
          <a:ln/>
        </p:spPr>
        <p:txBody>
          <a:bodyPr wrap="square" lIns="0" tIns="0" rIns="0" bIns="0" rtlCol="0" anchor="t"/>
          <a:lstStyle/>
          <a:p>
            <a:pPr indent="0" marL="0">
              <a:buNone/>
            </a:pPr>
            <a:r>
              <a:rPr lang="en-US" sz="1600" b="1" dirty="0">
                <a:solidFill>
                  <a:schemeClr val="accent1"/>
                </a:solidFill>
              </a:rPr>
              <a:t>Model choice</a:t>
            </a:r>
            <a:endParaRPr lang="en-US" sz="1600" dirty="0"/>
          </a:p>
        </p:txBody>
      </p:sp>
      <p:sp>
        <p:nvSpPr>
          <p:cNvPr id="13" name="Text 10"/>
          <p:cNvSpPr txBox="1"/>
          <p:nvPr/>
        </p:nvSpPr>
        <p:spPr>
          <a:xfrm>
            <a:off x="7818120" y="5065776"/>
            <a:ext cx="3593592" cy="731520"/>
          </a:xfrm>
          <a:prstGeom prst="rect">
            <a:avLst/>
          </a:prstGeom>
          <a:noFill/>
          <a:ln/>
        </p:spPr>
        <p:txBody>
          <a:bodyPr wrap="square" lIns="0" tIns="0" rIns="0" bIns="0" rtlCol="0" anchor="t"/>
          <a:lstStyle/>
          <a:p>
            <a:pPr indent="0" marL="0">
              <a:buNone/>
            </a:pPr>
            <a:r>
              <a:rPr lang="en-US" sz="1400" dirty="0">
                <a:solidFill>
                  <a:schemeClr val="tx1"/>
                </a:solidFill>
              </a:rPr>
              <a:t>Seven models compared; all within about one point, inside the noise of the test</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On our instrument: 58 of 71 correct</a:t>
            </a:r>
            <a:endParaRPr lang="en-US" sz="3600" dirty="0"/>
          </a:p>
        </p:txBody>
      </p:sp>
      <p:sp>
        <p:nvSpPr>
          <p:cNvPr id="3" name="Text 1"/>
          <p:cNvSpPr txBox="1"/>
          <p:nvPr/>
        </p:nvSpPr>
        <p:spPr>
          <a:xfrm>
            <a:off x="548640" y="1417320"/>
            <a:ext cx="6949440" cy="320040"/>
          </a:xfrm>
          <a:prstGeom prst="rect">
            <a:avLst/>
          </a:prstGeom>
          <a:noFill/>
          <a:ln/>
        </p:spPr>
        <p:txBody>
          <a:bodyPr wrap="square" lIns="0" tIns="0" rIns="0" bIns="0" rtlCol="0" anchor="t"/>
          <a:lstStyle/>
          <a:p>
            <a:pPr indent="0" marL="0">
              <a:buNone/>
            </a:pPr>
            <a:r>
              <a:rPr lang="en-US" sz="1400" b="1" dirty="0">
                <a:solidFill>
                  <a:schemeClr val="accent3"/>
                </a:solidFill>
              </a:rPr>
              <a:t>Correct first guess per chemical (number of our spectra)</a:t>
            </a:r>
            <a:endParaRPr lang="en-US" sz="1400" dirty="0"/>
          </a:p>
        </p:txBody>
      </p:sp>
      <p:graphicFrame>
        <p:nvGraphicFramePr>
          <p:cNvPr id="4" name="Accuracy per chemical" descr="Bar chart: sodium nitrate 100 percent, acetone 100 percent, potassium nitrate 73 percent, ethyl alcohol, potassium carbonate and isopropyl alcohol 0 percent"/>
          <p:cNvGraphicFramePr/>
          <p:nvPr/>
        </p:nvGraphicFramePr>
        <p:xfrm>
          <a:off x="548640" y="173736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5" name="Top1 card"/>
          <p:cNvSpPr/>
          <p:nvPr/>
        </p:nvSpPr>
        <p:spPr>
          <a:xfrm>
            <a:off x="7955280" y="1600200"/>
            <a:ext cx="3685032" cy="2103120"/>
          </a:xfrm>
          <a:prstGeom prst="roundRect">
            <a:avLst>
              <a:gd name="adj" fmla="val 3478"/>
            </a:avLst>
          </a:prstGeom>
          <a:solidFill>
            <a:schemeClr val="bg2"/>
          </a:solidFill>
          <a:ln/>
        </p:spPr>
      </p:sp>
      <p:sp>
        <p:nvSpPr>
          <p:cNvPr id="6" name="Text 3"/>
          <p:cNvSpPr txBox="1"/>
          <p:nvPr/>
        </p:nvSpPr>
        <p:spPr>
          <a:xfrm>
            <a:off x="8183880" y="1737360"/>
            <a:ext cx="3200400"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82%</a:t>
            </a:r>
            <a:endParaRPr lang="en-US" sz="5400" dirty="0"/>
          </a:p>
        </p:txBody>
      </p:sp>
      <p:sp>
        <p:nvSpPr>
          <p:cNvPr id="7" name="Text 4"/>
          <p:cNvSpPr txBox="1"/>
          <p:nvPr/>
        </p:nvSpPr>
        <p:spPr>
          <a:xfrm>
            <a:off x="8183880" y="2697480"/>
            <a:ext cx="3227832" cy="868680"/>
          </a:xfrm>
          <a:prstGeom prst="rect">
            <a:avLst/>
          </a:prstGeom>
          <a:noFill/>
          <a:ln/>
        </p:spPr>
        <p:txBody>
          <a:bodyPr wrap="square" lIns="0" tIns="0" rIns="0" bIns="0" rtlCol="0" anchor="t"/>
          <a:lstStyle/>
          <a:p>
            <a:pPr indent="0" marL="0">
              <a:buNone/>
            </a:pPr>
            <a:r>
              <a:rPr lang="en-US" sz="1500" dirty="0">
                <a:solidFill>
                  <a:schemeClr val="tx1"/>
                </a:solidFill>
              </a:rPr>
              <a:t>correct first guess; the right name was in the top five for 96%</a:t>
            </a:r>
            <a:endParaRPr lang="en-US" sz="1500" dirty="0"/>
          </a:p>
        </p:txBody>
      </p:sp>
      <p:sp>
        <p:nvSpPr>
          <p:cNvPr id="8" name="Nitrate card"/>
          <p:cNvSpPr/>
          <p:nvPr/>
        </p:nvSpPr>
        <p:spPr>
          <a:xfrm>
            <a:off x="7955280" y="3931920"/>
            <a:ext cx="3685032" cy="2103120"/>
          </a:xfrm>
          <a:prstGeom prst="roundRect">
            <a:avLst>
              <a:gd name="adj" fmla="val 3478"/>
            </a:avLst>
          </a:prstGeom>
          <a:solidFill>
            <a:schemeClr val="bg2"/>
          </a:solidFill>
          <a:ln/>
        </p:spPr>
      </p:sp>
      <p:sp>
        <p:nvSpPr>
          <p:cNvPr id="9" name="Text 6"/>
          <p:cNvSpPr txBox="1"/>
          <p:nvPr/>
        </p:nvSpPr>
        <p:spPr>
          <a:xfrm>
            <a:off x="8183880" y="4069080"/>
            <a:ext cx="3227832" cy="411480"/>
          </a:xfrm>
          <a:prstGeom prst="rect">
            <a:avLst/>
          </a:prstGeom>
          <a:noFill/>
          <a:ln/>
        </p:spPr>
        <p:txBody>
          <a:bodyPr wrap="square" lIns="0" tIns="0" rIns="0" bIns="0" rtlCol="0" anchor="t"/>
          <a:lstStyle/>
          <a:p>
            <a:pPr indent="0" marL="0">
              <a:buNone/>
            </a:pPr>
            <a:r>
              <a:rPr lang="en-US" sz="1600" b="1" dirty="0">
                <a:solidFill>
                  <a:schemeClr val="accent1"/>
                </a:solidFill>
              </a:rPr>
              <a:t>Nitrates get mixed up</a:t>
            </a:r>
            <a:endParaRPr lang="en-US" sz="1600" dirty="0"/>
          </a:p>
        </p:txBody>
      </p:sp>
      <p:sp>
        <p:nvSpPr>
          <p:cNvPr id="10" name="Text 7"/>
          <p:cNvSpPr txBox="1"/>
          <p:nvPr/>
        </p:nvSpPr>
        <p:spPr>
          <a:xfrm>
            <a:off x="8183880" y="4526280"/>
            <a:ext cx="3227832" cy="1371600"/>
          </a:xfrm>
          <a:prstGeom prst="rect">
            <a:avLst/>
          </a:prstGeom>
          <a:noFill/>
          <a:ln/>
        </p:spPr>
        <p:txBody>
          <a:bodyPr wrap="square" lIns="0" tIns="0" rIns="0" bIns="0" rtlCol="0" anchor="t"/>
          <a:lstStyle/>
          <a:p>
            <a:pPr indent="0" marL="0">
              <a:buNone/>
            </a:pPr>
            <a:r>
              <a:rPr lang="en-US" sz="1400" dirty="0">
                <a:solidFill>
                  <a:schemeClr val="tx1"/>
                </a:solidFill>
              </a:rPr>
              <a:t>8 of the 9 potassium nitrate errors were another nitrate salt. All nitrates share one dominant peak near 1,050 cm-1.</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What limits the model today</a:t>
            </a:r>
            <a:endParaRPr lang="en-US" sz="3600" dirty="0"/>
          </a:p>
        </p:txBody>
      </p:sp>
      <p:sp>
        <p:nvSpPr>
          <p:cNvPr id="3" name="Limit 1"/>
          <p:cNvSpPr/>
          <p:nvPr/>
        </p:nvSpPr>
        <p:spPr>
          <a:xfrm>
            <a:off x="548640" y="1554480"/>
            <a:ext cx="5385816" cy="2103120"/>
          </a:xfrm>
          <a:prstGeom prst="roundRect">
            <a:avLst>
              <a:gd name="adj" fmla="val 3478"/>
            </a:avLst>
          </a:prstGeom>
          <a:solidFill>
            <a:schemeClr val="bg2"/>
          </a:solidFill>
          <a:ln/>
        </p:spPr>
      </p:sp>
      <p:sp>
        <p:nvSpPr>
          <p:cNvPr id="4" name="Text 2"/>
          <p:cNvSpPr txBox="1"/>
          <p:nvPr/>
        </p:nvSpPr>
        <p:spPr>
          <a:xfrm>
            <a:off x="822960" y="1737360"/>
            <a:ext cx="210312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20 of 26</a:t>
            </a:r>
            <a:endParaRPr lang="en-US" sz="3200" dirty="0"/>
          </a:p>
        </p:txBody>
      </p:sp>
      <p:sp>
        <p:nvSpPr>
          <p:cNvPr id="5" name="Text 3"/>
          <p:cNvSpPr txBox="1"/>
          <p:nvPr/>
        </p:nvSpPr>
        <p:spPr>
          <a:xfrm>
            <a:off x="2926080" y="1737360"/>
            <a:ext cx="2734056" cy="731520"/>
          </a:xfrm>
          <a:prstGeom prst="rect">
            <a:avLst/>
          </a:prstGeom>
          <a:noFill/>
          <a:ln/>
        </p:spPr>
        <p:txBody>
          <a:bodyPr wrap="square" lIns="0" tIns="0" rIns="0" bIns="0" rtlCol="0" anchor="ctr"/>
          <a:lstStyle/>
          <a:p>
            <a:pPr indent="0" marL="0">
              <a:buNone/>
            </a:pPr>
            <a:r>
              <a:rPr lang="en-US" sz="1600" b="1" dirty="0">
                <a:solidFill>
                  <a:schemeClr val="tx1"/>
                </a:solidFill>
              </a:rPr>
              <a:t>of our chemicals are missing</a:t>
            </a:r>
            <a:endParaRPr lang="en-US" sz="1600" dirty="0"/>
          </a:p>
        </p:txBody>
      </p:sp>
      <p:sp>
        <p:nvSpPr>
          <p:cNvPr id="6" name="Text 4"/>
          <p:cNvSpPr txBox="1"/>
          <p:nvPr/>
        </p:nvSpPr>
        <p:spPr>
          <a:xfrm>
            <a:off x="822960" y="2560320"/>
            <a:ext cx="4837176" cy="960120"/>
          </a:xfrm>
          <a:prstGeom prst="rect">
            <a:avLst/>
          </a:prstGeom>
          <a:noFill/>
          <a:ln/>
        </p:spPr>
        <p:txBody>
          <a:bodyPr wrap="square" lIns="0" tIns="0" rIns="0" bIns="0" rtlCol="0" anchor="t"/>
          <a:lstStyle/>
          <a:p>
            <a:pPr indent="0" marL="0">
              <a:buNone/>
            </a:pPr>
            <a:r>
              <a:rPr lang="en-US" sz="1400" dirty="0">
                <a:solidFill>
                  <a:schemeClr val="tx1"/>
                </a:solidFill>
              </a:rPr>
              <a:t>Urea, naphthalene, PNBA, hexamine and every explosive have no public reference, so the model cannot name them.</a:t>
            </a:r>
            <a:endParaRPr lang="en-US" sz="1400" dirty="0"/>
          </a:p>
        </p:txBody>
      </p:sp>
      <p:sp>
        <p:nvSpPr>
          <p:cNvPr id="7" name="Limit 2"/>
          <p:cNvSpPr/>
          <p:nvPr/>
        </p:nvSpPr>
        <p:spPr>
          <a:xfrm>
            <a:off x="6254496" y="1554480"/>
            <a:ext cx="5385816" cy="2103120"/>
          </a:xfrm>
          <a:prstGeom prst="roundRect">
            <a:avLst>
              <a:gd name="adj" fmla="val 3478"/>
            </a:avLst>
          </a:prstGeom>
          <a:solidFill>
            <a:schemeClr val="bg2"/>
          </a:solidFill>
          <a:ln/>
        </p:spPr>
      </p:sp>
      <p:sp>
        <p:nvSpPr>
          <p:cNvPr id="8" name="Text 6"/>
          <p:cNvSpPr txBox="1"/>
          <p:nvPr/>
        </p:nvSpPr>
        <p:spPr>
          <a:xfrm>
            <a:off x="6528816" y="1737360"/>
            <a:ext cx="210312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682</a:t>
            </a:r>
            <a:endParaRPr lang="en-US" sz="3200" dirty="0"/>
          </a:p>
        </p:txBody>
      </p:sp>
      <p:sp>
        <p:nvSpPr>
          <p:cNvPr id="9" name="Text 7"/>
          <p:cNvSpPr txBox="1"/>
          <p:nvPr/>
        </p:nvSpPr>
        <p:spPr>
          <a:xfrm>
            <a:off x="8631936" y="1737360"/>
            <a:ext cx="2734056" cy="731520"/>
          </a:xfrm>
          <a:prstGeom prst="rect">
            <a:avLst/>
          </a:prstGeom>
          <a:noFill/>
          <a:ln/>
        </p:spPr>
        <p:txBody>
          <a:bodyPr wrap="square" lIns="0" tIns="0" rIns="0" bIns="0" rtlCol="0" anchor="ctr"/>
          <a:lstStyle/>
          <a:p>
            <a:pPr indent="0" marL="0">
              <a:buNone/>
            </a:pPr>
            <a:r>
              <a:rPr lang="en-US" sz="1600" b="1" dirty="0">
                <a:solidFill>
                  <a:schemeClr val="tx1"/>
                </a:solidFill>
              </a:rPr>
              <a:t>spectra get a confident wrong name</a:t>
            </a:r>
            <a:endParaRPr lang="en-US" sz="1600" dirty="0"/>
          </a:p>
        </p:txBody>
      </p:sp>
      <p:sp>
        <p:nvSpPr>
          <p:cNvPr id="10" name="Text 8"/>
          <p:cNvSpPr txBox="1"/>
          <p:nvPr/>
        </p:nvSpPr>
        <p:spPr>
          <a:xfrm>
            <a:off x="6528816" y="2560320"/>
            <a:ext cx="4837176" cy="960120"/>
          </a:xfrm>
          <a:prstGeom prst="rect">
            <a:avLst/>
          </a:prstGeom>
          <a:noFill/>
          <a:ln/>
        </p:spPr>
        <p:txBody>
          <a:bodyPr wrap="square" lIns="0" tIns="0" rIns="0" bIns="0" rtlCol="0" anchor="t"/>
          <a:lstStyle/>
          <a:p>
            <a:pPr indent="0" marL="0">
              <a:buNone/>
            </a:pPr>
            <a:r>
              <a:rPr lang="en-US" sz="1400" dirty="0">
                <a:solidFill>
                  <a:schemeClr val="tx1"/>
                </a:solidFill>
              </a:rPr>
              <a:t>The model always answers. Urea is usually called iron sulfate, and RDX boric acid. It cannot yet say "unknown".</a:t>
            </a:r>
            <a:endParaRPr lang="en-US" sz="1400" dirty="0"/>
          </a:p>
        </p:txBody>
      </p:sp>
      <p:sp>
        <p:nvSpPr>
          <p:cNvPr id="11" name="Limit 3"/>
          <p:cNvSpPr/>
          <p:nvPr/>
        </p:nvSpPr>
        <p:spPr>
          <a:xfrm>
            <a:off x="548640" y="3931920"/>
            <a:ext cx="5385816" cy="2103120"/>
          </a:xfrm>
          <a:prstGeom prst="roundRect">
            <a:avLst>
              <a:gd name="adj" fmla="val 3478"/>
            </a:avLst>
          </a:prstGeom>
          <a:solidFill>
            <a:schemeClr val="bg2"/>
          </a:solidFill>
          <a:ln/>
        </p:spPr>
      </p:sp>
      <p:sp>
        <p:nvSpPr>
          <p:cNvPr id="12" name="Text 10"/>
          <p:cNvSpPr txBox="1"/>
          <p:nvPr/>
        </p:nvSpPr>
        <p:spPr>
          <a:xfrm>
            <a:off x="822960" y="4114800"/>
            <a:ext cx="210312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3</a:t>
            </a:r>
            <a:endParaRPr lang="en-US" sz="3200" dirty="0"/>
          </a:p>
        </p:txBody>
      </p:sp>
      <p:sp>
        <p:nvSpPr>
          <p:cNvPr id="13" name="Text 11"/>
          <p:cNvSpPr txBox="1"/>
          <p:nvPr/>
        </p:nvSpPr>
        <p:spPr>
          <a:xfrm>
            <a:off x="2926080" y="4114800"/>
            <a:ext cx="2734056" cy="731520"/>
          </a:xfrm>
          <a:prstGeom prst="rect">
            <a:avLst/>
          </a:prstGeom>
          <a:noFill/>
          <a:ln/>
        </p:spPr>
        <p:txBody>
          <a:bodyPr wrap="square" lIns="0" tIns="0" rIns="0" bIns="0" rtlCol="0" anchor="ctr"/>
          <a:lstStyle/>
          <a:p>
            <a:pPr indent="0" marL="0">
              <a:buNone/>
            </a:pPr>
            <a:r>
              <a:rPr lang="en-US" sz="1600" b="1" dirty="0">
                <a:solidFill>
                  <a:schemeClr val="tx1"/>
                </a:solidFill>
              </a:rPr>
              <a:t>spectra of alcohols, all wrong</a:t>
            </a:r>
            <a:endParaRPr lang="en-US" sz="1600" dirty="0"/>
          </a:p>
        </p:txBody>
      </p:sp>
      <p:sp>
        <p:nvSpPr>
          <p:cNvPr id="14" name="Text 12"/>
          <p:cNvSpPr txBox="1"/>
          <p:nvPr/>
        </p:nvSpPr>
        <p:spPr>
          <a:xfrm>
            <a:off x="822960" y="4937760"/>
            <a:ext cx="4837176" cy="960120"/>
          </a:xfrm>
          <a:prstGeom prst="rect">
            <a:avLst/>
          </a:prstGeom>
          <a:noFill/>
          <a:ln/>
        </p:spPr>
        <p:txBody>
          <a:bodyPr wrap="square" lIns="0" tIns="0" rIns="0" bIns="0" rtlCol="0" anchor="t"/>
          <a:lstStyle/>
          <a:p>
            <a:pPr indent="0" marL="0">
              <a:buNone/>
            </a:pPr>
            <a:r>
              <a:rPr lang="en-US" sz="1400" dirty="0">
                <a:solidFill>
                  <a:schemeClr val="tx1"/>
                </a:solidFill>
              </a:rPr>
              <a:t>Ethyl and isopropyl alcohol failed. With so few spectra the cause is not known.</a:t>
            </a:r>
            <a:endParaRPr lang="en-US" sz="1400" dirty="0"/>
          </a:p>
        </p:txBody>
      </p:sp>
      <p:sp>
        <p:nvSpPr>
          <p:cNvPr id="15" name="Limit 4"/>
          <p:cNvSpPr/>
          <p:nvPr/>
        </p:nvSpPr>
        <p:spPr>
          <a:xfrm>
            <a:off x="6254496" y="3931920"/>
            <a:ext cx="5385816" cy="2103120"/>
          </a:xfrm>
          <a:prstGeom prst="roundRect">
            <a:avLst>
              <a:gd name="adj" fmla="val 3478"/>
            </a:avLst>
          </a:prstGeom>
          <a:solidFill>
            <a:schemeClr val="bg2"/>
          </a:solidFill>
          <a:ln/>
        </p:spPr>
      </p:sp>
      <p:sp>
        <p:nvSpPr>
          <p:cNvPr id="16" name="Text 14"/>
          <p:cNvSpPr txBox="1"/>
          <p:nvPr/>
        </p:nvSpPr>
        <p:spPr>
          <a:xfrm>
            <a:off x="6528816" y="4114800"/>
            <a:ext cx="210312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 of 3</a:t>
            </a:r>
            <a:endParaRPr lang="en-US" sz="3200" dirty="0"/>
          </a:p>
        </p:txBody>
      </p:sp>
      <p:sp>
        <p:nvSpPr>
          <p:cNvPr id="17" name="Text 15"/>
          <p:cNvSpPr txBox="1"/>
          <p:nvPr/>
        </p:nvSpPr>
        <p:spPr>
          <a:xfrm>
            <a:off x="8631936" y="4114800"/>
            <a:ext cx="2734056" cy="731520"/>
          </a:xfrm>
          <a:prstGeom prst="rect">
            <a:avLst/>
          </a:prstGeom>
          <a:noFill/>
          <a:ln/>
        </p:spPr>
        <p:txBody>
          <a:bodyPr wrap="square" lIns="0" tIns="0" rIns="0" bIns="0" rtlCol="0" anchor="ctr"/>
          <a:lstStyle/>
          <a:p>
            <a:pPr indent="0" marL="0">
              <a:buNone/>
            </a:pPr>
            <a:r>
              <a:rPr lang="en-US" sz="1600" b="1" dirty="0">
                <a:solidFill>
                  <a:schemeClr val="tx1"/>
                </a:solidFill>
              </a:rPr>
              <a:t>of our spectrum files works</a:t>
            </a:r>
            <a:endParaRPr lang="en-US" sz="1600" dirty="0"/>
          </a:p>
        </p:txBody>
      </p:sp>
      <p:sp>
        <p:nvSpPr>
          <p:cNvPr id="18" name="Text 16"/>
          <p:cNvSpPr txBox="1"/>
          <p:nvPr/>
        </p:nvSpPr>
        <p:spPr>
          <a:xfrm>
            <a:off x="6528816" y="4937760"/>
            <a:ext cx="4837176" cy="960120"/>
          </a:xfrm>
          <a:prstGeom prst="rect">
            <a:avLst/>
          </a:prstGeom>
          <a:noFill/>
          <a:ln/>
        </p:spPr>
        <p:txBody>
          <a:bodyPr wrap="square" lIns="0" tIns="0" rIns="0" bIns="0" rtlCol="0" anchor="t"/>
          <a:lstStyle/>
          <a:p>
            <a:pPr indent="0" marL="0">
              <a:buNone/>
            </a:pPr>
            <a:r>
              <a:rPr lang="en-US" sz="1400" dirty="0">
                <a:solidFill>
                  <a:schemeClr val="tx1"/>
                </a:solidFill>
              </a:rPr>
              <a:t>Accuracy is 82% on spec_log.csv but 6% and 0% on spec_wl.csv and spec_wol.csv. Not yet investigated.</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1672" cy="822960"/>
          </a:xfrm>
          <a:prstGeom prst="rect">
            <a:avLst/>
          </a:prstGeom>
          <a:noFill/>
          <a:ln/>
        </p:spPr>
        <p:txBody>
          <a:bodyPr wrap="square" lIns="0" tIns="0" rIns="0" bIns="0" rtlCol="0" anchor="ctr"/>
          <a:lstStyle/>
          <a:p>
            <a:pPr algn="l" indent="0" marL="0">
              <a:buNone/>
            </a:pPr>
            <a:r>
              <a:rPr lang="en-US" sz="3600" b="1" dirty="0">
                <a:solidFill>
                  <a:schemeClr val="bg1"/>
                </a:solidFill>
              </a:rPr>
              <a:t>Recommended next steps</a:t>
            </a:r>
            <a:endParaRPr lang="en-US" sz="3600" dirty="0"/>
          </a:p>
        </p:txBody>
      </p:sp>
      <p:sp>
        <p:nvSpPr>
          <p:cNvPr id="3" name="Badge 1"/>
          <p:cNvSpPr/>
          <p:nvPr/>
        </p:nvSpPr>
        <p:spPr>
          <a:xfrm>
            <a:off x="548640" y="1783080"/>
            <a:ext cx="457200" cy="457200"/>
          </a:xfrm>
          <a:prstGeom prst="ellipse">
            <a:avLst/>
          </a:prstGeom>
          <a:solidFill>
            <a:schemeClr val="accent2"/>
          </a:solidFill>
          <a:ln/>
        </p:spPr>
      </p:sp>
      <p:sp>
        <p:nvSpPr>
          <p:cNvPr id="4" name="Text 2"/>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737360"/>
            <a:ext cx="10360152" cy="411480"/>
          </a:xfrm>
          <a:prstGeom prst="rect">
            <a:avLst/>
          </a:prstGeom>
          <a:noFill/>
          <a:ln/>
        </p:spPr>
        <p:txBody>
          <a:bodyPr wrap="square" lIns="0" tIns="0" rIns="0" bIns="0" rtlCol="0" anchor="ctr"/>
          <a:lstStyle/>
          <a:p>
            <a:pPr indent="0" marL="0">
              <a:buNone/>
            </a:pPr>
            <a:r>
              <a:rPr lang="en-US" sz="2000" b="1" dirty="0">
                <a:solidFill>
                  <a:schemeClr val="bg1"/>
                </a:solidFill>
              </a:rPr>
              <a:t>Add our own spectra as references</a:t>
            </a:r>
            <a:endParaRPr lang="en-US" sz="2000" dirty="0"/>
          </a:p>
        </p:txBody>
      </p:sp>
      <p:sp>
        <p:nvSpPr>
          <p:cNvPr id="6" name="Text 4"/>
          <p:cNvSpPr txBox="1"/>
          <p:nvPr/>
        </p:nvSpPr>
        <p:spPr>
          <a:xfrm>
            <a:off x="1280160" y="2176272"/>
            <a:ext cx="10360152" cy="457200"/>
          </a:xfrm>
          <a:prstGeom prst="rect">
            <a:avLst/>
          </a:prstGeom>
          <a:noFill/>
          <a:ln/>
        </p:spPr>
        <p:txBody>
          <a:bodyPr wrap="square" lIns="0" tIns="0" rIns="0" bIns="0" rtlCol="0" anchor="t"/>
          <a:lstStyle/>
          <a:p>
            <a:pPr indent="0" marL="0">
              <a:buNone/>
            </a:pPr>
            <a:r>
              <a:rPr lang="en-US" sz="1500" dirty="0">
                <a:solidFill>
                  <a:schemeClr val="accent4"/>
                </a:solidFill>
              </a:rPr>
              <a:t>Covers urea, naphthalene, PNBA, hexamine and the explosives; test on spectra held back from each.</a:t>
            </a:r>
            <a:endParaRPr lang="en-US" sz="1500" dirty="0"/>
          </a:p>
        </p:txBody>
      </p:sp>
      <p:sp>
        <p:nvSpPr>
          <p:cNvPr id="7" name="Badge 2"/>
          <p:cNvSpPr/>
          <p:nvPr/>
        </p:nvSpPr>
        <p:spPr>
          <a:xfrm>
            <a:off x="548640" y="2880360"/>
            <a:ext cx="457200" cy="457200"/>
          </a:xfrm>
          <a:prstGeom prst="ellipse">
            <a:avLst/>
          </a:prstGeom>
          <a:solidFill>
            <a:schemeClr val="accent2"/>
          </a:solidFill>
          <a:ln/>
        </p:spPr>
      </p:sp>
      <p:sp>
        <p:nvSpPr>
          <p:cNvPr id="8" name="Text 6"/>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834640"/>
            <a:ext cx="10360152" cy="411480"/>
          </a:xfrm>
          <a:prstGeom prst="rect">
            <a:avLst/>
          </a:prstGeom>
          <a:noFill/>
          <a:ln/>
        </p:spPr>
        <p:txBody>
          <a:bodyPr wrap="square" lIns="0" tIns="0" rIns="0" bIns="0" rtlCol="0" anchor="ctr"/>
          <a:lstStyle/>
          <a:p>
            <a:pPr indent="0" marL="0">
              <a:buNone/>
            </a:pPr>
            <a:r>
              <a:rPr lang="en-US" sz="2000" b="1" dirty="0">
                <a:solidFill>
                  <a:schemeClr val="bg1"/>
                </a:solidFill>
              </a:rPr>
              <a:t>Teach the model to say "unknown"</a:t>
            </a:r>
            <a:endParaRPr lang="en-US" sz="2000" dirty="0"/>
          </a:p>
        </p:txBody>
      </p:sp>
      <p:sp>
        <p:nvSpPr>
          <p:cNvPr id="10" name="Text 8"/>
          <p:cNvSpPr txBox="1"/>
          <p:nvPr/>
        </p:nvSpPr>
        <p:spPr>
          <a:xfrm>
            <a:off x="1280160" y="3273552"/>
            <a:ext cx="10360152" cy="457200"/>
          </a:xfrm>
          <a:prstGeom prst="rect">
            <a:avLst/>
          </a:prstGeom>
          <a:noFill/>
          <a:ln/>
        </p:spPr>
        <p:txBody>
          <a:bodyPr wrap="square" lIns="0" tIns="0" rIns="0" bIns="0" rtlCol="0" anchor="t"/>
          <a:lstStyle/>
          <a:p>
            <a:pPr indent="0" marL="0">
              <a:buNone/>
            </a:pPr>
            <a:r>
              <a:rPr lang="en-US" sz="1500" dirty="0">
                <a:solidFill>
                  <a:schemeClr val="accent4"/>
                </a:solidFill>
              </a:rPr>
              <a:t>Use our 191 "not in lib" spectra to set the decision.</a:t>
            </a:r>
            <a:endParaRPr lang="en-US" sz="1500" dirty="0"/>
          </a:p>
        </p:txBody>
      </p:sp>
      <p:sp>
        <p:nvSpPr>
          <p:cNvPr id="11" name="Badge 3"/>
          <p:cNvSpPr/>
          <p:nvPr/>
        </p:nvSpPr>
        <p:spPr>
          <a:xfrm>
            <a:off x="548640" y="3977640"/>
            <a:ext cx="457200" cy="457200"/>
          </a:xfrm>
          <a:prstGeom prst="ellipse">
            <a:avLst/>
          </a:prstGeom>
          <a:solidFill>
            <a:schemeClr val="accent2"/>
          </a:solidFill>
          <a:ln/>
        </p:spPr>
      </p:sp>
      <p:sp>
        <p:nvSpPr>
          <p:cNvPr id="12" name="Text 10"/>
          <p:cNvSpPr txBox="1"/>
          <p:nvPr/>
        </p:nvSpPr>
        <p:spPr>
          <a:xfrm>
            <a:off x="54864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3931920"/>
            <a:ext cx="10360152" cy="411480"/>
          </a:xfrm>
          <a:prstGeom prst="rect">
            <a:avLst/>
          </a:prstGeom>
          <a:noFill/>
          <a:ln/>
        </p:spPr>
        <p:txBody>
          <a:bodyPr wrap="square" lIns="0" tIns="0" rIns="0" bIns="0" rtlCol="0" anchor="ctr"/>
          <a:lstStyle/>
          <a:p>
            <a:pPr indent="0" marL="0">
              <a:buNone/>
            </a:pPr>
            <a:r>
              <a:rPr lang="en-US" sz="2000" b="1" dirty="0">
                <a:solidFill>
                  <a:schemeClr val="bg1"/>
                </a:solidFill>
              </a:rPr>
              <a:t>Clarify our data files</a:t>
            </a:r>
            <a:endParaRPr lang="en-US" sz="2000" dirty="0"/>
          </a:p>
        </p:txBody>
      </p:sp>
      <p:sp>
        <p:nvSpPr>
          <p:cNvPr id="14" name="Text 12"/>
          <p:cNvSpPr txBox="1"/>
          <p:nvPr/>
        </p:nvSpPr>
        <p:spPr>
          <a:xfrm>
            <a:off x="1280160" y="4370832"/>
            <a:ext cx="10360152" cy="457200"/>
          </a:xfrm>
          <a:prstGeom prst="rect">
            <a:avLst/>
          </a:prstGeom>
          <a:noFill/>
          <a:ln/>
        </p:spPr>
        <p:txBody>
          <a:bodyPr wrap="square" lIns="0" tIns="0" rIns="0" bIns="0" rtlCol="0" anchor="t"/>
          <a:lstStyle/>
          <a:p>
            <a:pPr indent="0" marL="0">
              <a:buNone/>
            </a:pPr>
            <a:r>
              <a:rPr lang="en-US" sz="1500" dirty="0">
                <a:solidFill>
                  <a:schemeClr val="accent4"/>
                </a:solidFill>
              </a:rPr>
              <a:t>What spec_wl.csv and spec_wol.csv contain, and what the ON / OFF column in chem_log.csv means.</a:t>
            </a:r>
            <a:endParaRPr lang="en-US" sz="1500" dirty="0"/>
          </a:p>
        </p:txBody>
      </p:sp>
      <p:sp>
        <p:nvSpPr>
          <p:cNvPr id="15" name="Badge 4"/>
          <p:cNvSpPr/>
          <p:nvPr/>
        </p:nvSpPr>
        <p:spPr>
          <a:xfrm>
            <a:off x="548640" y="5074920"/>
            <a:ext cx="457200" cy="457200"/>
          </a:xfrm>
          <a:prstGeom prst="ellipse">
            <a:avLst/>
          </a:prstGeom>
          <a:solidFill>
            <a:schemeClr val="accent2"/>
          </a:solidFill>
          <a:ln/>
        </p:spPr>
      </p:sp>
      <p:sp>
        <p:nvSpPr>
          <p:cNvPr id="16" name="Text 14"/>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5029200"/>
            <a:ext cx="10360152" cy="411480"/>
          </a:xfrm>
          <a:prstGeom prst="rect">
            <a:avLst/>
          </a:prstGeom>
          <a:noFill/>
          <a:ln/>
        </p:spPr>
        <p:txBody>
          <a:bodyPr wrap="square" lIns="0" tIns="0" rIns="0" bIns="0" rtlCol="0" anchor="ctr"/>
          <a:lstStyle/>
          <a:p>
            <a:pPr indent="0" marL="0">
              <a:buNone/>
            </a:pPr>
            <a:r>
              <a:rPr lang="en-US" sz="2000" b="1" dirty="0">
                <a:solidFill>
                  <a:schemeClr val="bg1"/>
                </a:solidFill>
              </a:rPr>
              <a:t>Measure more of the rare chemicals</a:t>
            </a:r>
            <a:endParaRPr lang="en-US" sz="2000" dirty="0"/>
          </a:p>
        </p:txBody>
      </p:sp>
      <p:sp>
        <p:nvSpPr>
          <p:cNvPr id="18" name="Text 16"/>
          <p:cNvSpPr txBox="1"/>
          <p:nvPr/>
        </p:nvSpPr>
        <p:spPr>
          <a:xfrm>
            <a:off x="1280160" y="5468112"/>
            <a:ext cx="10360152" cy="457200"/>
          </a:xfrm>
          <a:prstGeom prst="rect">
            <a:avLst/>
          </a:prstGeom>
          <a:noFill/>
          <a:ln/>
        </p:spPr>
        <p:txBody>
          <a:bodyPr wrap="square" lIns="0" tIns="0" rIns="0" bIns="0" rtlCol="0" anchor="t"/>
          <a:lstStyle/>
          <a:p>
            <a:pPr indent="0" marL="0">
              <a:buNone/>
            </a:pPr>
            <a:r>
              <a:rPr lang="en-US" sz="1500" dirty="0">
                <a:solidFill>
                  <a:schemeClr val="accent4"/>
                </a:solidFill>
              </a:rPr>
              <a:t>Seven of our chemicals have only one or two spectra.</a:t>
            </a:r>
            <a:endParaRPr lang="en-US" sz="1500" dirty="0"/>
          </a:p>
        </p:txBody>
      </p:sp>
    </p:spTree>
  </p:cSld>
  <p:clrMapOvr>
    <a:masterClrMapping/>
  </p:clrMapOvr>
</p:sld>
</file>

<file path=ppt/theme/theme1.xml><?xml version="1.0" encoding="utf-8"?>
<a:theme xmlns:a="http://schemas.openxmlformats.org/drawingml/2006/main" name="Raman Report">
  <a:themeElements>
    <a:clrScheme name="Raman Report">
      <a:dk1>
        <a:srgbClr val="14212B"/>
      </a:dk1>
      <a:lt1>
        <a:srgbClr val="FFFFFF"/>
      </a:lt1>
      <a:dk2>
        <a:srgbClr val="0F4C5C"/>
      </a:dk2>
      <a:lt2>
        <a:srgbClr val="EDF3F3"/>
      </a:lt2>
      <a:accent1>
        <a:srgbClr val="0F4C5C"/>
      </a:accent1>
      <a:accent2>
        <a:srgbClr val="E36414"/>
      </a:accent2>
      <a:accent3>
        <a:srgbClr val="5F8A8B"/>
      </a:accent3>
      <a:accent4>
        <a:srgbClr val="A9C3C3"/>
      </a:accent4>
      <a:accent5>
        <a:srgbClr val="FB8B24"/>
      </a:accent5>
      <a:accent6>
        <a:srgbClr val="2F6F7E"/>
      </a:accent6>
      <a:hlink>
        <a:srgbClr val="0F4C5C"/>
      </a:hlink>
      <a:folHlink>
        <a:srgbClr val="5F8A8B"/>
      </a:folHlink>
    </a:clrScheme>
    <a:fontScheme name="Raman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Raman chemical identification: data, model and test</dc:title>
  <dc:subject>PptxGenJS Presentation</dc:subject>
  <dc:creator>PptxGenJS</dc:creator>
  <cp:lastModifiedBy>PptxGenJS</cp:lastModifiedBy>
  <cp:revision>1</cp:revision>
  <dcterms:created xsi:type="dcterms:W3CDTF">2026-10-11T12:52:54Z</dcterms:created>
  <dcterms:modified xsi:type="dcterms:W3CDTF">2026-10-11T12:52:54Z</dcterms:modified>
</cp:coreProperties>
</file>